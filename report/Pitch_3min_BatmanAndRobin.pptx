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4c28de-f2b6-c4db-cdad-98d318b366a4}">
          <p14:sldIdLst>
            <p14:sldId id="256"/>
          </p14:sldIdLst>
        </p14:section>
        <p14:section name="Insight" id="{f7489d27-d0eb-d6ac-02a2-7311b8a35569}">
          <p14:sldIdLst>
            <p14:sldId id="257"/>
          </p14:sldIdLst>
        </p14:section>
        <p14:section name="Results" id="{10c6e09a-1e0b-f98d-a75c-fdf8b5f93074}">
          <p14:sldIdLst>
            <p14:sldId id="258"/>
            <p14:sldId id="259"/>
            <p14:sldId id="260"/>
          </p14:sldIdLst>
        </p14:section>
        <p14:section name="Close" id="{d9012bc8-f428-a040-fd0c-62869a56cc5e}">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4659"/>
                </a:solidFill>
                <a:latin typeface="+mn-lt"/>
              </a:defRPr>
            </a:pPr>
            <a:r>
              <a:rPr sz="1300" b="0" i="0" u="none" strike="noStrike">
                <a:solidFill>
                  <a:srgbClr val="3A4659"/>
                </a:solidFill>
                <a:latin typeface="+mn-lt"/>
              </a:rPr>
              <a:t>Typical minutes between steps (train, median)</a:t>
            </a:r>
          </a:p>
        </c:rich>
      </c:tx>
      <c:layout/>
      <c:overlay val="0"/>
    </c:title>
    <c:autoTitleDeleted val="0"/>
    <c:plotArea>
      <c:layout/>
      <c:barChart>
        <c:barDir val="bar"/>
        <c:grouping val="clustered"/>
        <c:varyColors val="0"/>
        <c:ser>
          <c:idx val="0"/>
          <c:order val="0"/>
          <c:tx>
            <c:strRef>
              <c:f>Sheet1!$B$1</c:f>
              <c:strCache>
                <c:ptCount val="1"/>
                <c:pt idx="0">
                  <c:v>Minutes between steps</c:v>
                </c:pt>
              </c:strCache>
            </c:strRef>
          </c:tx>
          <c:spPr>
            <a:solidFill>
              <a:srgbClr val="E8A33D"/>
            </a:solidFill>
            <a:effectLst/>
          </c:spPr>
          <c:invertIfNegative val="0"/>
          <c:dLbls>
            <c:numFmt formatCode="#,##0" sourceLinked="0"/>
            <c:txPr>
              <a:bodyPr/>
              <a:lstStyle/>
              <a:p>
                <a:pPr>
                  <a:defRPr b="0" i="0" strike="noStrike" sz="13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E8A33D"/>
              </a:solidFill>
              <a:effectLst/>
            </c:spPr>
          </c:dPt>
          <c:dPt>
            <c:idx val="1"/>
            <c:invertIfNegative val="0"/>
            <c:bubble3D val="0"/>
            <c:spPr>
              <a:solidFill>
                <a:srgbClr val="2F7F86"/>
              </a:solidFill>
              <a:effectLst/>
            </c:spPr>
          </c:dPt>
          <c:dPt>
            <c:idx val="2"/>
            <c:invertIfNegative val="0"/>
            <c:bubble3D val="0"/>
            <c:spPr>
              <a:solidFill>
                <a:srgbClr val="E8A33D"/>
              </a:solidFill>
              <a:effectLst/>
            </c:spPr>
          </c:dPt>
          <c:cat>
            <c:multiLvlStrRef>
              <c:f>Sheet1!$A$2:$A$4</c:f>
              <c:multiLvlStrCache>
                <c:ptCount val="3"/>
                <c:lvl>
                  <c:pt idx="0">
                    <c:v>Easy laundering</c:v>
                  </c:pt>
                  <c:pt idx="1">
                    <c:v>Normal look-alike</c:v>
                  </c:pt>
                  <c:pt idx="2">
                    <c:v>Medium laundering</c:v>
                  </c:pt>
                </c:lvl>
              </c:multiLvlStrCache>
            </c:multiLvlStrRef>
          </c:cat>
          <c:val>
            <c:numRef>
              <c:f>Sheet1!$B$2:$B$4</c:f>
              <c:numCache>
                <c:formatCode>General</c:formatCode>
                <c:ptCount val="3"/>
                <c:pt idx="0">
                  <c:v>1</c:v>
                </c:pt>
                <c:pt idx="1">
                  <c:v>10</c:v>
                </c:pt>
                <c:pt idx="2">
                  <c:v>18</c:v>
                </c:pt>
              </c:numCache>
            </c:numRef>
          </c:val>
        </c:ser>
        <c:dLbls>
          <c:numFmt formatCode="#,##0" sourceLinked="0"/>
          <c:txPr>
            <a:bodyPr/>
            <a:lstStyle/>
            <a:p>
              <a:pPr>
                <a:defRPr b="0" i="0" strike="noStrike" sz="13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20"/>
        </c:scaling>
        <c:delete val="0"/>
        <c:axPos val="b"/>
        <c:majorGridlines>
          <c:spPr>
            <a:ln w="6350"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A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Out-of-fold AP</c:v>
                </c:pt>
              </c:strCache>
            </c:strRef>
          </c:tx>
          <c:spPr>
            <a:solidFill>
              <a:srgbClr val="2F7F86"/>
            </a:solidFill>
            <a:effectLst/>
          </c:spPr>
          <c:invertIfNegative val="0"/>
          <c:dLbls>
            <c:numFmt formatCode="0.0;;&quot;&quot;"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Local only</c:v>
                  </c:pt>
                  <c:pt idx="1">
                    <c:v>+ episodes, stage 2</c:v>
                  </c:pt>
                  <c:pt idx="2">
                    <c:v>+ patterns, shape</c:v>
                  </c:pt>
                  <c:pt idx="3">
                    <c:v>+ look-alike model</c:v>
                  </c:pt>
                </c:lvl>
              </c:multiLvlStrCache>
            </c:multiLvlStrRef>
          </c:cat>
          <c:val>
            <c:numRef>
              <c:f>Sheet1!$B$2:$B$5</c:f>
              <c:numCache>
                <c:formatCode>General</c:formatCode>
                <c:ptCount val="4"/>
                <c:pt idx="0">
                  <c:v>58.6</c:v>
                </c:pt>
                <c:pt idx="1">
                  <c:v>61.6</c:v>
                </c:pt>
                <c:pt idx="2">
                  <c:v>63.8</c:v>
                </c:pt>
                <c:pt idx="3">
                  <c:v>67.5</c:v>
                </c:pt>
              </c:numCache>
            </c:numRef>
          </c:val>
        </c:ser>
        <c:ser>
          <c:idx val="1"/>
          <c:order val="1"/>
          <c:tx>
            <c:strRef>
              <c:f>Sheet1!$C$1</c:f>
              <c:strCache>
                <c:ptCount val="1"/>
                <c:pt idx="0">
                  <c:v>Leaderboard</c:v>
                </c:pt>
              </c:strCache>
            </c:strRef>
          </c:tx>
          <c:spPr>
            <a:solidFill>
              <a:srgbClr val="E8A33D"/>
            </a:solidFill>
            <a:effectLst/>
          </c:spPr>
          <c:invertIfNegative val="0"/>
          <c:dLbls>
            <c:numFmt formatCode="0.0;;&quot;&quot;"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Local only</c:v>
                  </c:pt>
                  <c:pt idx="1">
                    <c:v>+ episodes, stage 2</c:v>
                  </c:pt>
                  <c:pt idx="2">
                    <c:v>+ patterns, shape</c:v>
                  </c:pt>
                  <c:pt idx="3">
                    <c:v>+ look-alike model</c:v>
                  </c:pt>
                </c:lvl>
              </c:multiLvlStrCache>
            </c:multiLvlStrRef>
          </c:cat>
          <c:val>
            <c:numRef>
              <c:f>Sheet1!$C$2:$C$5</c:f>
              <c:numCache>
                <c:formatCode>General</c:formatCode>
                <c:ptCount val="4"/>
                <c:pt idx="0">
                  <c:v>0</c:v>
                </c:pt>
                <c:pt idx="1">
                  <c:v>67.3</c:v>
                </c:pt>
                <c:pt idx="2">
                  <c:v>68.5</c:v>
                </c:pt>
                <c:pt idx="3">
                  <c:v>69.2</c:v>
                </c:pt>
              </c:numCache>
            </c:numRef>
          </c:val>
        </c:ser>
        <c:dLbls>
          <c:numFmt formatCode="0.0;;&quot;&quot;"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75"/>
          <c:min val="5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A46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 every transaction in a synthetic XRP-style ledger for how suspicious it is. Our one-line story: on this data, laundering gives itself away by how fast money moves through brand-new wallet pairs, and the hard part is telling it apart from normal businesses that build the same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finding. Novelty alone is not enough because half of normal payments are first-time pairs too. What separates laundering is unusual tempo for the shape: easy schemes step about every minute, normal look-alikes every ten, and medium schemes are deliberately stretched to about eighteen.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Out-of-fold rose from 58.6 to 67.5. The leaderboard runs higher than out-of-fold, but the look-alike model gained 3.7 points offline and only 0.6 on the leaderboard: the test set contains variations that are not in training, which we discuss under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 case is a textbook scatter-gather: one wallet splits about 127 dollars across six brand-new wallets in under two minutes, and all six pay the same collector within the next two. The third example shows the model ignores the collector's ordinary follow-on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Hubs look anomalous by any count. We want the model to score behaviour, not size: steady tempo, no pass-through and open, unrelated counterparties are what normal businesses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the hard relays and random labels cap any honest model at roughly 82 average precision on train. The test week also differs from training, which is why our offline gains did not all transfer. Everything is reproducible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880360"/>
            <a:ext cx="8046720" cy="10972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sp>
        <p:nvSpPr>
          <p:cNvPr id="3" name="Text 0"/>
          <p:cNvSpPr txBox="1"/>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chemeClr val="accent4"/>
                </a:solidFill>
              </a:rPr>
              <a:t>Batman and Robin  |  Decode and Detect  |  flagged for review, synthetic data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nchor="b"/>
          <a:lstStyle/>
          <a:p>
            <a:pPr indent="0" marL="0">
              <a:buNone/>
            </a:pPr>
            <a:r>
              <a:rPr lang="en-US" sz="4000" b="1" dirty="0">
                <a:solidFill>
                  <a:schemeClr val="bg1"/>
                </a:solidFill>
              </a:rPr>
              <a:t>Catching laundering by its tempo</a:t>
            </a:r>
            <a:endParaRPr lang="en-US" sz="4000" dirty="0"/>
          </a:p>
        </p:txBody>
      </p:sp>
      <p:sp>
        <p:nvSpPr>
          <p:cNvPr id="3" name="Text 0"/>
          <p:cNvSpPr/>
          <p:nvPr>
            <p:ph idx="101" type="body" hasCustomPrompt="1"/>
          </p:nvPr>
        </p:nvSpPr>
        <p:spPr>
          <a:xfrm>
            <a:off x="548640" y="2880360"/>
            <a:ext cx="8046720" cy="1097280"/>
          </a:xfrm>
          <a:prstGeom prst="rect">
            <a:avLst/>
          </a:prstGeom>
          <a:noFill/>
          <a:ln/>
        </p:spPr>
        <p:txBody>
          <a:bodyPr wrap="square" rtlCol="0" anchor="t"/>
          <a:lstStyle/>
          <a:p>
            <a:pPr indent="0" marL="0">
              <a:buNone/>
            </a:pPr>
            <a:r>
              <a:rPr lang="en-US" sz="1800" dirty="0">
                <a:solidFill>
                  <a:schemeClr val="accent5"/>
                </a:solidFill>
              </a:rPr>
              <a:t>Decode and Detect, UKCBT x XRPL AI Hack, 24 October 2026</a:t>
            </a:r>
            <a:endParaRPr lang="en-US" sz="1800" dirty="0"/>
          </a:p>
          <a:p>
            <a:pPr indent="0" marL="0">
              <a:buNone/>
            </a:pPr>
            <a:r>
              <a:rPr lang="en-US" sz="1800" dirty="0">
                <a:solidFill>
                  <a:schemeClr val="accent5"/>
                </a:solidFill>
              </a:rPr>
              <a:t>Team Batman and Robin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Laundering gives itself away by its tempo</a:t>
            </a:r>
            <a:endParaRPr lang="en-US" sz="2800" dirty="0"/>
          </a:p>
        </p:txBody>
      </p:sp>
      <p:graphicFrame>
        <p:nvGraphicFramePr>
          <p:cNvPr id="3" name="Chart 0" descr=""/>
          <p:cNvGraphicFramePr/>
          <p:nvPr/>
        </p:nvGraphicFramePr>
        <p:xfrm>
          <a:off x="457200" y="109728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0" y="1188720"/>
            <a:ext cx="320040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tx2"/>
                </a:solidFill>
              </a:rPr>
              <a:t>98% of planted steps are brand-new wallet pairs, but so are 55% of normal payments.</a:t>
            </a:r>
            <a:endParaRPr lang="en-US" sz="1400" dirty="0"/>
          </a:p>
          <a:p>
            <a:pPr marL="342900" indent="-342900">
              <a:spcAft>
                <a:spcPts val="800"/>
              </a:spcAft>
              <a:buSzPct val="100000"/>
              <a:buChar char="•"/>
            </a:pPr>
            <a:r>
              <a:rPr lang="en-US" sz="1400" dirty="0">
                <a:solidFill>
                  <a:schemeClr val="tx2"/>
                </a:solidFill>
              </a:rPr>
              <a:t>Normal businesses build the same shapes at a business pace: about 10 minutes per step.</a:t>
            </a:r>
            <a:endParaRPr lang="en-US" sz="1400" dirty="0"/>
          </a:p>
          <a:p>
            <a:pPr marL="342900" indent="-342900">
              <a:spcAft>
                <a:spcPts val="800"/>
              </a:spcAft>
              <a:buSzPct val="100000"/>
              <a:buChar char="•"/>
            </a:pPr>
            <a:r>
              <a:rPr lang="en-US" sz="1400" dirty="0">
                <a:solidFill>
                  <a:schemeClr val="tx2"/>
                </a:solidFill>
              </a:rPr>
              <a:t>Easy laundering is far faster; medium laundering is deliberately slower.</a:t>
            </a:r>
            <a:endParaRPr lang="en-US" sz="1400" dirty="0"/>
          </a:p>
          <a:p>
            <a:pPr marL="342900" indent="-342900">
              <a:spcAft>
                <a:spcPts val="800"/>
              </a:spcAft>
              <a:buSzPct val="100000"/>
              <a:buChar char="•"/>
            </a:pPr>
            <a:r>
              <a:rPr lang="en-US" sz="1400" dirty="0">
                <a:solidFill>
                  <a:schemeClr val="tx2"/>
                </a:solidFill>
              </a:rPr>
              <a:t>Amounts, fees, assets and hour of day look almost identical.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Results: each idea had to earn its place</a:t>
            </a:r>
            <a:endParaRPr lang="en-US" sz="2800" dirty="0"/>
          </a:p>
        </p:txBody>
      </p:sp>
      <p:graphicFrame>
        <p:nvGraphicFramePr>
          <p:cNvPr id="3" name="Chart 0" descr=""/>
          <p:cNvGraphicFramePr/>
          <p:nvPr/>
        </p:nvGraphicFramePr>
        <p:xfrm>
          <a:off x="457200" y="105156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309360" y="1143000"/>
            <a:ext cx="23774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69.2</a:t>
            </a:r>
            <a:endParaRPr lang="en-US" sz="4000" dirty="0"/>
          </a:p>
        </p:txBody>
      </p:sp>
      <p:sp>
        <p:nvSpPr>
          <p:cNvPr id="5" name="Text 2"/>
          <p:cNvSpPr txBox="1"/>
          <p:nvPr/>
        </p:nvSpPr>
        <p:spPr>
          <a:xfrm>
            <a:off x="6309360" y="1856232"/>
            <a:ext cx="2377440" cy="502920"/>
          </a:xfrm>
          <a:prstGeom prst="rect">
            <a:avLst/>
          </a:prstGeom>
          <a:noFill/>
          <a:ln/>
        </p:spPr>
        <p:txBody>
          <a:bodyPr wrap="square" lIns="0" tIns="0" rIns="0" bIns="0" rtlCol="0" anchor="t"/>
          <a:lstStyle/>
          <a:p>
            <a:pPr indent="0" marL="0">
              <a:buNone/>
            </a:pPr>
            <a:r>
              <a:rPr lang="en-US" sz="1300" dirty="0">
                <a:solidFill>
                  <a:schemeClr val="tx2"/>
                </a:solidFill>
              </a:rPr>
              <a:t>final leaderboard score (v17, best so far)</a:t>
            </a:r>
            <a:endParaRPr lang="en-US" sz="1300" dirty="0"/>
          </a:p>
        </p:txBody>
      </p:sp>
      <p:sp>
        <p:nvSpPr>
          <p:cNvPr id="6" name="Text 3"/>
          <p:cNvSpPr txBox="1"/>
          <p:nvPr/>
        </p:nvSpPr>
        <p:spPr>
          <a:xfrm>
            <a:off x="6309360" y="2377440"/>
            <a:ext cx="23774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67.5</a:t>
            </a:r>
            <a:endParaRPr lang="en-US" sz="4000" dirty="0"/>
          </a:p>
        </p:txBody>
      </p:sp>
      <p:sp>
        <p:nvSpPr>
          <p:cNvPr id="7" name="Text 4"/>
          <p:cNvSpPr txBox="1"/>
          <p:nvPr/>
        </p:nvSpPr>
        <p:spPr>
          <a:xfrm>
            <a:off x="6309360" y="3090672"/>
            <a:ext cx="2377440" cy="502920"/>
          </a:xfrm>
          <a:prstGeom prst="rect">
            <a:avLst/>
          </a:prstGeom>
          <a:noFill/>
          <a:ln/>
        </p:spPr>
        <p:txBody>
          <a:bodyPr wrap="square" lIns="0" tIns="0" rIns="0" bIns="0" rtlCol="0" anchor="t"/>
          <a:lstStyle/>
          <a:p>
            <a:pPr indent="0" marL="0">
              <a:buNone/>
            </a:pPr>
            <a:r>
              <a:rPr lang="en-US" sz="1300" dirty="0">
                <a:solidFill>
                  <a:schemeClr val="tx2"/>
                </a:solidFill>
              </a:rPr>
              <a:t>out-of-fold AP, grouped 5-fold</a:t>
            </a:r>
            <a:endParaRPr lang="en-US" sz="1300" dirty="0"/>
          </a:p>
        </p:txBody>
      </p:sp>
      <p:sp>
        <p:nvSpPr>
          <p:cNvPr id="8" name="Text 5"/>
          <p:cNvSpPr txBox="1"/>
          <p:nvPr/>
        </p:nvSpPr>
        <p:spPr>
          <a:xfrm>
            <a:off x="6309360" y="3611880"/>
            <a:ext cx="2377440" cy="1005840"/>
          </a:xfrm>
          <a:prstGeom prst="rect">
            <a:avLst/>
          </a:prstGeom>
          <a:noFill/>
          <a:ln/>
        </p:spPr>
        <p:txBody>
          <a:bodyPr wrap="square" lIns="0" tIns="0" rIns="0" bIns="0" rtlCol="0" anchor="t"/>
          <a:lstStyle/>
          <a:p>
            <a:pPr indent="0" marL="0">
              <a:buNone/>
            </a:pPr>
            <a:r>
              <a:rPr lang="en-US" sz="1100" dirty="0">
                <a:solidFill>
                  <a:schemeClr val="accent4"/>
                </a:solidFill>
              </a:rPr>
              <a:t>Dropped after testing: relay features, slow-window counts, closed squares, a medium-only model, pseudo-labelling, value matching.</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Flagged for review: split, hop, merge in minutes</a:t>
            </a:r>
            <a:endParaRPr lang="en-US" sz="2800" dirty="0"/>
          </a:p>
        </p:txBody>
      </p:sp>
      <p:sp>
        <p:nvSpPr>
          <p:cNvPr id="3" name="source"/>
          <p:cNvSpPr/>
          <p:nvPr/>
        </p:nvSpPr>
        <p:spPr>
          <a:xfrm>
            <a:off x="548640" y="2331720"/>
            <a:ext cx="685800" cy="685800"/>
          </a:xfrm>
          <a:prstGeom prst="ellipse">
            <a:avLst/>
          </a:prstGeom>
          <a:solidFill>
            <a:schemeClr val="accent1"/>
          </a:solidFill>
          <a:ln w="12700">
            <a:solidFill>
              <a:schemeClr val="accent1"/>
            </a:solidFill>
            <a:prstDash val="solid"/>
          </a:ln>
        </p:spPr>
      </p:sp>
      <p:sp>
        <p:nvSpPr>
          <p:cNvPr id="4" name="collector"/>
          <p:cNvSpPr/>
          <p:nvPr/>
        </p:nvSpPr>
        <p:spPr>
          <a:xfrm>
            <a:off x="3337560" y="2331720"/>
            <a:ext cx="685800" cy="685800"/>
          </a:xfrm>
          <a:prstGeom prst="ellipse">
            <a:avLst/>
          </a:prstGeom>
          <a:solidFill>
            <a:schemeClr val="accent3"/>
          </a:solidFill>
          <a:ln w="12700">
            <a:solidFill>
              <a:schemeClr val="accent3"/>
            </a:solidFill>
            <a:prstDash val="solid"/>
          </a:ln>
        </p:spPr>
      </p:sp>
      <p:sp>
        <p:nvSpPr>
          <p:cNvPr id="5" name="mid 0"/>
          <p:cNvSpPr/>
          <p:nvPr/>
        </p:nvSpPr>
        <p:spPr>
          <a:xfrm>
            <a:off x="2011680" y="1188720"/>
            <a:ext cx="347472" cy="347472"/>
          </a:xfrm>
          <a:prstGeom prst="ellipse">
            <a:avLst/>
          </a:prstGeom>
          <a:solidFill>
            <a:schemeClr val="accent2"/>
          </a:solidFill>
          <a:ln w="12700">
            <a:solidFill>
              <a:schemeClr val="accent2"/>
            </a:solidFill>
            <a:prstDash val="solid"/>
          </a:ln>
        </p:spPr>
      </p:sp>
      <p:sp>
        <p:nvSpPr>
          <p:cNvPr id="6" name="in 0"/>
          <p:cNvSpPr/>
          <p:nvPr/>
        </p:nvSpPr>
        <p:spPr>
          <a:xfrm>
            <a:off x="1234440" y="2670048"/>
            <a:ext cx="777240" cy="-1307592"/>
          </a:xfrm>
          <a:prstGeom prst="line">
            <a:avLst/>
          </a:prstGeom>
          <a:noFill/>
          <a:ln w="12700">
            <a:solidFill>
              <a:schemeClr val="accent4"/>
            </a:solidFill>
            <a:prstDash val="solid"/>
          </a:ln>
        </p:spPr>
      </p:sp>
      <p:sp>
        <p:nvSpPr>
          <p:cNvPr id="7" name="out 0"/>
          <p:cNvSpPr/>
          <p:nvPr/>
        </p:nvSpPr>
        <p:spPr>
          <a:xfrm>
            <a:off x="2359152" y="1362456"/>
            <a:ext cx="978408" cy="1307592"/>
          </a:xfrm>
          <a:prstGeom prst="line">
            <a:avLst/>
          </a:prstGeom>
          <a:noFill/>
          <a:ln w="12700">
            <a:solidFill>
              <a:schemeClr val="accent4"/>
            </a:solidFill>
            <a:prstDash val="solid"/>
          </a:ln>
        </p:spPr>
      </p:sp>
      <p:sp>
        <p:nvSpPr>
          <p:cNvPr id="8" name="mid 1"/>
          <p:cNvSpPr/>
          <p:nvPr/>
        </p:nvSpPr>
        <p:spPr>
          <a:xfrm>
            <a:off x="2011680" y="1691640"/>
            <a:ext cx="347472" cy="347472"/>
          </a:xfrm>
          <a:prstGeom prst="ellipse">
            <a:avLst/>
          </a:prstGeom>
          <a:solidFill>
            <a:schemeClr val="accent2"/>
          </a:solidFill>
          <a:ln w="12700">
            <a:solidFill>
              <a:schemeClr val="accent2"/>
            </a:solidFill>
            <a:prstDash val="solid"/>
          </a:ln>
        </p:spPr>
      </p:sp>
      <p:sp>
        <p:nvSpPr>
          <p:cNvPr id="9" name="in 1"/>
          <p:cNvSpPr/>
          <p:nvPr/>
        </p:nvSpPr>
        <p:spPr>
          <a:xfrm>
            <a:off x="1234440" y="2670048"/>
            <a:ext cx="777240" cy="-804672"/>
          </a:xfrm>
          <a:prstGeom prst="line">
            <a:avLst/>
          </a:prstGeom>
          <a:noFill/>
          <a:ln w="12700">
            <a:solidFill>
              <a:schemeClr val="accent4"/>
            </a:solidFill>
            <a:prstDash val="solid"/>
          </a:ln>
        </p:spPr>
      </p:sp>
      <p:sp>
        <p:nvSpPr>
          <p:cNvPr id="10" name="out 1"/>
          <p:cNvSpPr/>
          <p:nvPr/>
        </p:nvSpPr>
        <p:spPr>
          <a:xfrm>
            <a:off x="2359152" y="1865376"/>
            <a:ext cx="978408" cy="804672"/>
          </a:xfrm>
          <a:prstGeom prst="line">
            <a:avLst/>
          </a:prstGeom>
          <a:noFill/>
          <a:ln w="12700">
            <a:solidFill>
              <a:schemeClr val="accent4"/>
            </a:solidFill>
            <a:prstDash val="solid"/>
          </a:ln>
        </p:spPr>
      </p:sp>
      <p:sp>
        <p:nvSpPr>
          <p:cNvPr id="11" name="mid 2"/>
          <p:cNvSpPr/>
          <p:nvPr/>
        </p:nvSpPr>
        <p:spPr>
          <a:xfrm>
            <a:off x="2011680" y="2194560"/>
            <a:ext cx="347472" cy="347472"/>
          </a:xfrm>
          <a:prstGeom prst="ellipse">
            <a:avLst/>
          </a:prstGeom>
          <a:solidFill>
            <a:schemeClr val="accent2"/>
          </a:solidFill>
          <a:ln w="12700">
            <a:solidFill>
              <a:schemeClr val="accent2"/>
            </a:solidFill>
            <a:prstDash val="solid"/>
          </a:ln>
        </p:spPr>
      </p:sp>
      <p:sp>
        <p:nvSpPr>
          <p:cNvPr id="12" name="in 2"/>
          <p:cNvSpPr/>
          <p:nvPr/>
        </p:nvSpPr>
        <p:spPr>
          <a:xfrm>
            <a:off x="1234440" y="2670048"/>
            <a:ext cx="777240" cy="-301752"/>
          </a:xfrm>
          <a:prstGeom prst="line">
            <a:avLst/>
          </a:prstGeom>
          <a:noFill/>
          <a:ln w="12700">
            <a:solidFill>
              <a:schemeClr val="accent4"/>
            </a:solidFill>
            <a:prstDash val="solid"/>
          </a:ln>
        </p:spPr>
      </p:sp>
      <p:sp>
        <p:nvSpPr>
          <p:cNvPr id="13" name="out 2"/>
          <p:cNvSpPr/>
          <p:nvPr/>
        </p:nvSpPr>
        <p:spPr>
          <a:xfrm>
            <a:off x="2359152" y="2368296"/>
            <a:ext cx="978408" cy="301752"/>
          </a:xfrm>
          <a:prstGeom prst="line">
            <a:avLst/>
          </a:prstGeom>
          <a:noFill/>
          <a:ln w="12700">
            <a:solidFill>
              <a:schemeClr val="accent4"/>
            </a:solidFill>
            <a:prstDash val="solid"/>
          </a:ln>
        </p:spPr>
      </p:sp>
      <p:sp>
        <p:nvSpPr>
          <p:cNvPr id="14" name="mid 3"/>
          <p:cNvSpPr/>
          <p:nvPr/>
        </p:nvSpPr>
        <p:spPr>
          <a:xfrm>
            <a:off x="2011680" y="2697480"/>
            <a:ext cx="347472" cy="347472"/>
          </a:xfrm>
          <a:prstGeom prst="ellipse">
            <a:avLst/>
          </a:prstGeom>
          <a:solidFill>
            <a:schemeClr val="accent2"/>
          </a:solidFill>
          <a:ln w="12700">
            <a:solidFill>
              <a:schemeClr val="accent2"/>
            </a:solidFill>
            <a:prstDash val="solid"/>
          </a:ln>
        </p:spPr>
      </p:sp>
      <p:sp>
        <p:nvSpPr>
          <p:cNvPr id="15" name="in 3"/>
          <p:cNvSpPr/>
          <p:nvPr/>
        </p:nvSpPr>
        <p:spPr>
          <a:xfrm>
            <a:off x="1234440" y="2670048"/>
            <a:ext cx="777240" cy="201168"/>
          </a:xfrm>
          <a:prstGeom prst="line">
            <a:avLst/>
          </a:prstGeom>
          <a:noFill/>
          <a:ln w="12700">
            <a:solidFill>
              <a:schemeClr val="accent4"/>
            </a:solidFill>
            <a:prstDash val="solid"/>
          </a:ln>
        </p:spPr>
      </p:sp>
      <p:sp>
        <p:nvSpPr>
          <p:cNvPr id="16" name="out 3"/>
          <p:cNvSpPr/>
          <p:nvPr/>
        </p:nvSpPr>
        <p:spPr>
          <a:xfrm>
            <a:off x="2359152" y="2871216"/>
            <a:ext cx="978408" cy="-201168"/>
          </a:xfrm>
          <a:prstGeom prst="line">
            <a:avLst/>
          </a:prstGeom>
          <a:noFill/>
          <a:ln w="12700">
            <a:solidFill>
              <a:schemeClr val="accent4"/>
            </a:solidFill>
            <a:prstDash val="solid"/>
          </a:ln>
        </p:spPr>
      </p:sp>
      <p:sp>
        <p:nvSpPr>
          <p:cNvPr id="17" name="mid 4"/>
          <p:cNvSpPr/>
          <p:nvPr/>
        </p:nvSpPr>
        <p:spPr>
          <a:xfrm>
            <a:off x="2011680" y="3200400"/>
            <a:ext cx="347472" cy="347472"/>
          </a:xfrm>
          <a:prstGeom prst="ellipse">
            <a:avLst/>
          </a:prstGeom>
          <a:solidFill>
            <a:schemeClr val="accent2"/>
          </a:solidFill>
          <a:ln w="12700">
            <a:solidFill>
              <a:schemeClr val="accent2"/>
            </a:solidFill>
            <a:prstDash val="solid"/>
          </a:ln>
        </p:spPr>
      </p:sp>
      <p:sp>
        <p:nvSpPr>
          <p:cNvPr id="18" name="in 4"/>
          <p:cNvSpPr/>
          <p:nvPr/>
        </p:nvSpPr>
        <p:spPr>
          <a:xfrm>
            <a:off x="1234440" y="2670048"/>
            <a:ext cx="777240" cy="704088"/>
          </a:xfrm>
          <a:prstGeom prst="line">
            <a:avLst/>
          </a:prstGeom>
          <a:noFill/>
          <a:ln w="12700">
            <a:solidFill>
              <a:schemeClr val="accent4"/>
            </a:solidFill>
            <a:prstDash val="solid"/>
          </a:ln>
        </p:spPr>
      </p:sp>
      <p:sp>
        <p:nvSpPr>
          <p:cNvPr id="19" name="out 4"/>
          <p:cNvSpPr/>
          <p:nvPr/>
        </p:nvSpPr>
        <p:spPr>
          <a:xfrm>
            <a:off x="2359152" y="3374136"/>
            <a:ext cx="978408" cy="-704088"/>
          </a:xfrm>
          <a:prstGeom prst="line">
            <a:avLst/>
          </a:prstGeom>
          <a:noFill/>
          <a:ln w="12700">
            <a:solidFill>
              <a:schemeClr val="accent4"/>
            </a:solidFill>
            <a:prstDash val="solid"/>
          </a:ln>
        </p:spPr>
      </p:sp>
      <p:sp>
        <p:nvSpPr>
          <p:cNvPr id="20" name="mid 5"/>
          <p:cNvSpPr/>
          <p:nvPr/>
        </p:nvSpPr>
        <p:spPr>
          <a:xfrm>
            <a:off x="2011680" y="3703320"/>
            <a:ext cx="347472" cy="347472"/>
          </a:xfrm>
          <a:prstGeom prst="ellipse">
            <a:avLst/>
          </a:prstGeom>
          <a:solidFill>
            <a:schemeClr val="accent2"/>
          </a:solidFill>
          <a:ln w="12700">
            <a:solidFill>
              <a:schemeClr val="accent2"/>
            </a:solidFill>
            <a:prstDash val="solid"/>
          </a:ln>
        </p:spPr>
      </p:sp>
      <p:sp>
        <p:nvSpPr>
          <p:cNvPr id="21" name="in 5"/>
          <p:cNvSpPr/>
          <p:nvPr/>
        </p:nvSpPr>
        <p:spPr>
          <a:xfrm>
            <a:off x="1234440" y="2670048"/>
            <a:ext cx="777240" cy="1207008"/>
          </a:xfrm>
          <a:prstGeom prst="line">
            <a:avLst/>
          </a:prstGeom>
          <a:noFill/>
          <a:ln w="12700">
            <a:solidFill>
              <a:schemeClr val="accent4"/>
            </a:solidFill>
            <a:prstDash val="solid"/>
          </a:ln>
        </p:spPr>
      </p:sp>
      <p:sp>
        <p:nvSpPr>
          <p:cNvPr id="22" name="out 5"/>
          <p:cNvSpPr/>
          <p:nvPr/>
        </p:nvSpPr>
        <p:spPr>
          <a:xfrm>
            <a:off x="2359152" y="3877056"/>
            <a:ext cx="978408" cy="-1207008"/>
          </a:xfrm>
          <a:prstGeom prst="line">
            <a:avLst/>
          </a:prstGeom>
          <a:noFill/>
          <a:ln w="12700">
            <a:solidFill>
              <a:schemeClr val="accent4"/>
            </a:solidFill>
            <a:prstDash val="solid"/>
          </a:ln>
        </p:spPr>
      </p:sp>
      <p:sp>
        <p:nvSpPr>
          <p:cNvPr id="23" name="Text 21"/>
          <p:cNvSpPr txBox="1"/>
          <p:nvPr/>
        </p:nvSpPr>
        <p:spPr>
          <a:xfrm>
            <a:off x="457200" y="4160520"/>
            <a:ext cx="3840480" cy="548640"/>
          </a:xfrm>
          <a:prstGeom prst="rect">
            <a:avLst/>
          </a:prstGeom>
          <a:noFill/>
          <a:ln/>
        </p:spPr>
        <p:txBody>
          <a:bodyPr wrap="square" lIns="0" tIns="0" rIns="0" bIns="0" rtlCol="0" anchor="t"/>
          <a:lstStyle/>
          <a:p>
            <a:pPr indent="0" marL="0">
              <a:buNone/>
            </a:pPr>
            <a:r>
              <a:rPr lang="en-US" sz="1200" dirty="0">
                <a:solidFill>
                  <a:schemeClr val="tx2"/>
                </a:solidFill>
              </a:rPr>
              <a:t>Rank 1 of 40,101   5736BA1F...</a:t>
            </a:r>
            <a:endParaRPr lang="en-US" sz="1200" dirty="0"/>
          </a:p>
          <a:p>
            <a:pPr indent="0" marL="0">
              <a:buNone/>
            </a:pPr>
            <a:r>
              <a:rPr lang="en-US" sz="1200" dirty="0">
                <a:solidFill>
                  <a:schemeClr val="tx2"/>
                </a:solidFill>
              </a:rPr>
              <a:t>$127 split across 6 new wallets in 1.7 min; all 6 pay one collector within 2 min</a:t>
            </a:r>
            <a:endParaRPr lang="en-US" sz="1200" dirty="0"/>
          </a:p>
        </p:txBody>
      </p:sp>
      <p:sp>
        <p:nvSpPr>
          <p:cNvPr id="24" name="card Rank 4   8AA1DCA1..."/>
          <p:cNvSpPr/>
          <p:nvPr/>
        </p:nvSpPr>
        <p:spPr>
          <a:xfrm>
            <a:off x="4526280" y="1143000"/>
            <a:ext cx="4160520" cy="1371600"/>
          </a:xfrm>
          <a:prstGeom prst="roundRect">
            <a:avLst>
              <a:gd name="adj" fmla="val 5333"/>
            </a:avLst>
          </a:prstGeom>
          <a:solidFill>
            <a:schemeClr val="bg2"/>
          </a:solidFill>
          <a:ln w="12700">
            <a:solidFill>
              <a:schemeClr val="bg2"/>
            </a:solidFill>
            <a:prstDash val="solid"/>
          </a:ln>
        </p:spPr>
      </p:sp>
      <p:sp>
        <p:nvSpPr>
          <p:cNvPr id="25" name="Text 23"/>
          <p:cNvSpPr txBox="1"/>
          <p:nvPr/>
        </p:nvSpPr>
        <p:spPr>
          <a:xfrm>
            <a:off x="4663440" y="1234440"/>
            <a:ext cx="3886200" cy="11887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Rank 4   8AA1DCA1...</a:t>
            </a:r>
            <a:endParaRPr lang="en-US" sz="1600" dirty="0"/>
          </a:p>
          <a:p>
            <a:pPr indent="0" marL="0">
              <a:spcAft>
                <a:spcPts val="400"/>
              </a:spcAft>
              <a:buNone/>
            </a:pPr>
            <a:r>
              <a:rPr lang="en-US" sz="1400" dirty="0">
                <a:solidFill>
                  <a:schemeClr val="tx2"/>
                </a:solidFill>
              </a:rPr>
              <a:t>Same split and merge, but every branch converts USD into EUR or GBP and back. 98 to 100% of the value survives each hop, all within 10 minutes.</a:t>
            </a:r>
            <a:endParaRPr lang="en-US" sz="1600" dirty="0"/>
          </a:p>
        </p:txBody>
      </p:sp>
      <p:sp>
        <p:nvSpPr>
          <p:cNvPr id="26" name="card Rank 5   41EF2ECA..."/>
          <p:cNvSpPr/>
          <p:nvPr/>
        </p:nvSpPr>
        <p:spPr>
          <a:xfrm>
            <a:off x="4526280" y="2697480"/>
            <a:ext cx="4160520" cy="1371600"/>
          </a:xfrm>
          <a:prstGeom prst="roundRect">
            <a:avLst>
              <a:gd name="adj" fmla="val 5333"/>
            </a:avLst>
          </a:prstGeom>
          <a:solidFill>
            <a:schemeClr val="bg2"/>
          </a:solidFill>
          <a:ln w="12700">
            <a:solidFill>
              <a:schemeClr val="bg2"/>
            </a:solidFill>
            <a:prstDash val="solid"/>
          </a:ln>
        </p:spPr>
      </p:sp>
      <p:sp>
        <p:nvSpPr>
          <p:cNvPr id="27" name="Text 25"/>
          <p:cNvSpPr txBox="1"/>
          <p:nvPr/>
        </p:nvSpPr>
        <p:spPr>
          <a:xfrm>
            <a:off x="4663440" y="2788920"/>
            <a:ext cx="3886200" cy="11887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Rank 5   41EF2ECA...</a:t>
            </a:r>
            <a:endParaRPr lang="en-US" sz="1600" dirty="0"/>
          </a:p>
          <a:p>
            <a:pPr indent="0" marL="0">
              <a:spcAft>
                <a:spcPts val="400"/>
              </a:spcAft>
              <a:buNone/>
            </a:pPr>
            <a:r>
              <a:rPr lang="en-US" sz="1400" dirty="0">
                <a:solidFill>
                  <a:schemeClr val="tx2"/>
                </a:solidFill>
              </a:rPr>
              <a:t>Four new wallets, four assets, merged in GBP in 2 minutes. The collector's next payment, to an old contact, ranks 17,189: we score the motif, not the wallet.</a:t>
            </a:r>
            <a:endParaRPr lang="en-US" sz="1600" dirty="0"/>
          </a:p>
        </p:txBody>
      </p:sp>
      <p:sp>
        <p:nvSpPr>
          <p:cNvPr id="28" name="Text 26"/>
          <p:cNvSpPr txBox="1"/>
          <p:nvPr/>
        </p:nvSpPr>
        <p:spPr>
          <a:xfrm>
            <a:off x="4526280" y="4206240"/>
            <a:ext cx="4160520" cy="457200"/>
          </a:xfrm>
          <a:prstGeom prst="rect">
            <a:avLst/>
          </a:prstGeom>
          <a:noFill/>
          <a:ln/>
        </p:spPr>
        <p:txBody>
          <a:bodyPr wrap="square" lIns="0" tIns="0" rIns="0" bIns="0" rtlCol="0" anchor="t"/>
          <a:lstStyle/>
          <a:p>
            <a:pPr indent="0" marL="0">
              <a:buNone/>
            </a:pPr>
            <a:r>
              <a:rPr lang="en-US" sz="1100" dirty="0">
                <a:solidFill>
                  <a:schemeClr val="accent4"/>
                </a:solidFill>
              </a:rPr>
              <a:t>Full hashes in report/EXAMPLES.md. A high score means flagged for review, not proof of wrongdoing.</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The busiest wallet, deliberately not flagged</a:t>
            </a:r>
            <a:endParaRPr lang="en-US" sz="2800" dirty="0"/>
          </a:p>
        </p:txBody>
      </p:sp>
      <p:sp>
        <p:nvSpPr>
          <p:cNvPr id="3" name="Text 1"/>
          <p:cNvSpPr txBox="1"/>
          <p:nvPr/>
        </p:nvSpPr>
        <p:spPr>
          <a:xfrm>
            <a:off x="4572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316</a:t>
            </a:r>
            <a:endParaRPr lang="en-US" sz="4000" dirty="0"/>
          </a:p>
        </p:txBody>
      </p:sp>
      <p:sp>
        <p:nvSpPr>
          <p:cNvPr id="4" name="Text 2"/>
          <p:cNvSpPr txBox="1"/>
          <p:nvPr/>
        </p:nvSpPr>
        <p:spPr>
          <a:xfrm>
            <a:off x="4572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payments in the test week</a:t>
            </a:r>
            <a:endParaRPr lang="en-US" sz="1300" dirty="0"/>
          </a:p>
        </p:txBody>
      </p:sp>
      <p:sp>
        <p:nvSpPr>
          <p:cNvPr id="5" name="Text 3"/>
          <p:cNvSpPr txBox="1"/>
          <p:nvPr/>
        </p:nvSpPr>
        <p:spPr>
          <a:xfrm>
            <a:off x="25146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247</a:t>
            </a:r>
            <a:endParaRPr lang="en-US" sz="4000" dirty="0"/>
          </a:p>
        </p:txBody>
      </p:sp>
      <p:sp>
        <p:nvSpPr>
          <p:cNvPr id="6" name="Text 4"/>
          <p:cNvSpPr txBox="1"/>
          <p:nvPr/>
        </p:nvSpPr>
        <p:spPr>
          <a:xfrm>
            <a:off x="25146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different counterparties, 88% of them new</a:t>
            </a:r>
            <a:endParaRPr lang="en-US" sz="1300" dirty="0"/>
          </a:p>
        </p:txBody>
      </p:sp>
      <p:sp>
        <p:nvSpPr>
          <p:cNvPr id="7" name="Text 5"/>
          <p:cNvSpPr txBox="1"/>
          <p:nvPr/>
        </p:nvSpPr>
        <p:spPr>
          <a:xfrm>
            <a:off x="45720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7 of 7</a:t>
            </a:r>
            <a:endParaRPr lang="en-US" sz="4000" dirty="0"/>
          </a:p>
        </p:txBody>
      </p:sp>
      <p:sp>
        <p:nvSpPr>
          <p:cNvPr id="8" name="Text 6"/>
          <p:cNvSpPr txBox="1"/>
          <p:nvPr/>
        </p:nvSpPr>
        <p:spPr>
          <a:xfrm>
            <a:off x="45720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days active, a steady 20 minutes apart</a:t>
            </a:r>
            <a:endParaRPr lang="en-US" sz="1300" dirty="0"/>
          </a:p>
        </p:txBody>
      </p:sp>
      <p:sp>
        <p:nvSpPr>
          <p:cNvPr id="9" name="Text 7"/>
          <p:cNvSpPr txBox="1"/>
          <p:nvPr/>
        </p:nvSpPr>
        <p:spPr>
          <a:xfrm>
            <a:off x="6629400" y="1188720"/>
            <a:ext cx="205740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1,975</a:t>
            </a:r>
            <a:endParaRPr lang="en-US" sz="4000" dirty="0"/>
          </a:p>
        </p:txBody>
      </p:sp>
      <p:sp>
        <p:nvSpPr>
          <p:cNvPr id="10" name="Text 8"/>
          <p:cNvSpPr txBox="1"/>
          <p:nvPr/>
        </p:nvSpPr>
        <p:spPr>
          <a:xfrm>
            <a:off x="6629400" y="1901952"/>
            <a:ext cx="2057400" cy="502920"/>
          </a:xfrm>
          <a:prstGeom prst="rect">
            <a:avLst/>
          </a:prstGeom>
          <a:noFill/>
          <a:ln/>
        </p:spPr>
        <p:txBody>
          <a:bodyPr wrap="square" lIns="0" tIns="0" rIns="0" bIns="0" rtlCol="0" anchor="t"/>
          <a:lstStyle/>
          <a:p>
            <a:pPr indent="0" marL="0">
              <a:buNone/>
            </a:pPr>
            <a:r>
              <a:rPr lang="en-US" sz="1300" dirty="0">
                <a:solidFill>
                  <a:schemeClr val="tx2"/>
                </a:solidFill>
              </a:rPr>
              <a:t>its best rank; none of its payments in our top 1%</a:t>
            </a:r>
            <a:endParaRPr lang="en-US" sz="1300" dirty="0"/>
          </a:p>
        </p:txBody>
      </p:sp>
      <p:sp>
        <p:nvSpPr>
          <p:cNvPr id="11" name="card Why we leave it alone   rnpfKt4h..."/>
          <p:cNvSpPr/>
          <p:nvPr/>
        </p:nvSpPr>
        <p:spPr>
          <a:xfrm>
            <a:off x="457200" y="2926080"/>
            <a:ext cx="8229600" cy="1554480"/>
          </a:xfrm>
          <a:prstGeom prst="roundRect">
            <a:avLst>
              <a:gd name="adj" fmla="val 4706"/>
            </a:avLst>
          </a:prstGeom>
          <a:solidFill>
            <a:schemeClr val="bg2"/>
          </a:solidFill>
          <a:ln w="12700">
            <a:solidFill>
              <a:schemeClr val="bg2"/>
            </a:solidFill>
            <a:prstDash val="solid"/>
          </a:ln>
        </p:spPr>
      </p:sp>
      <p:sp>
        <p:nvSpPr>
          <p:cNvPr id="12" name="Text 10"/>
          <p:cNvSpPr txBox="1"/>
          <p:nvPr/>
        </p:nvSpPr>
        <p:spPr>
          <a:xfrm>
            <a:off x="594360" y="3017520"/>
            <a:ext cx="7955280"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Why we leave it alone   rnpfKt4h...</a:t>
            </a:r>
            <a:endParaRPr lang="en-US" sz="1600" dirty="0"/>
          </a:p>
          <a:p>
            <a:pPr indent="0" marL="0">
              <a:spcAft>
                <a:spcPts val="400"/>
              </a:spcAft>
              <a:buNone/>
            </a:pPr>
            <a:r>
              <a:rPr lang="en-US" sz="1400" dirty="0">
                <a:solidFill>
                  <a:schemeClr val="tx2"/>
                </a:solidFill>
              </a:rPr>
              <a:t>By raw fan-in and fan-out it is the most extreme wallet in the data: exactly the exchange or payroll hub the brief warns about. But its new pairs arrive at a steady business pace, money is not passed straight on, and its counterparties do not form closed groups. Volume is not evidence.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Limits, next steps and how we built it</a:t>
            </a:r>
            <a:endParaRPr lang="en-US" sz="2800" dirty="0"/>
          </a:p>
        </p:txBody>
      </p:sp>
      <p:sp>
        <p:nvSpPr>
          <p:cNvPr id="3" name="card Limits and next steps"/>
          <p:cNvSpPr/>
          <p:nvPr/>
        </p:nvSpPr>
        <p:spPr>
          <a:xfrm>
            <a:off x="457200" y="1097280"/>
            <a:ext cx="4023360" cy="3474720"/>
          </a:xfrm>
          <a:prstGeom prst="roundRect">
            <a:avLst>
              <a:gd name="adj" fmla="val 2105"/>
            </a:avLst>
          </a:prstGeom>
          <a:solidFill>
            <a:schemeClr val="bg2"/>
          </a:solidFill>
          <a:ln w="12700">
            <a:solidFill>
              <a:schemeClr val="bg2"/>
            </a:solidFill>
            <a:prstDash val="solid"/>
          </a:ln>
        </p:spPr>
      </p:sp>
      <p:sp>
        <p:nvSpPr>
          <p:cNvPr id="4" name="Text 2"/>
          <p:cNvSpPr txBox="1"/>
          <p:nvPr/>
        </p:nvSpPr>
        <p:spPr>
          <a:xfrm>
            <a:off x="594360" y="1188720"/>
            <a:ext cx="3749040" cy="3291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Limits and next steps</a:t>
            </a:r>
            <a:endParaRPr lang="en-US" sz="1600" dirty="0"/>
          </a:p>
          <a:p>
            <a:pPr indent="0" marL="0">
              <a:spcAft>
                <a:spcPts val="400"/>
              </a:spcAft>
              <a:buNone/>
            </a:pPr>
            <a:r>
              <a:rPr lang="en-US" sz="1300" dirty="0">
                <a:solidFill>
                  <a:schemeClr val="tx2"/>
                </a:solidFill>
              </a:rPr>
              <a:t>Synthetic data: a high score here proves nothing about real crime.</a:t>
            </a:r>
            <a:endParaRPr lang="en-US" sz="1600" dirty="0"/>
          </a:p>
          <a:p>
            <a:pPr indent="0" marL="0">
              <a:spcAft>
                <a:spcPts val="400"/>
              </a:spcAft>
              <a:buNone/>
            </a:pPr>
            <a:endParaRPr lang="en-US" sz="1600" dirty="0"/>
          </a:p>
          <a:p>
            <a:pPr indent="0" marL="0">
              <a:spcAft>
                <a:spcPts val="400"/>
              </a:spcAft>
              <a:buNone/>
            </a:pPr>
            <a:r>
              <a:rPr lang="en-US" sz="1300" dirty="0">
                <a:solidFill>
                  <a:schemeClr val="tx2"/>
                </a:solidFill>
              </a:rPr>
              <a:t>Hard relay cases (16% of suspicious) come in 12 batches of 100 near-identical relay scenarios with exactly one laundering per batch; even against its 99 siblings it looks ordinary on every stat we tried. 25 labels are random by design.</a:t>
            </a:r>
            <a:endParaRPr lang="en-US" sz="1600" dirty="0"/>
          </a:p>
          <a:p>
            <a:pPr indent="0" marL="0">
              <a:spcAft>
                <a:spcPts val="400"/>
              </a:spcAft>
              <a:buNone/>
            </a:pPr>
            <a:endParaRPr lang="en-US" sz="1600" dirty="0"/>
          </a:p>
          <a:p>
            <a:pPr indent="0" marL="0">
              <a:spcAft>
                <a:spcPts val="400"/>
              </a:spcAft>
              <a:buNone/>
            </a:pPr>
            <a:r>
              <a:rPr lang="en-US" sz="1300" dirty="0">
                <a:solidFill>
                  <a:schemeClr val="tx2"/>
                </a:solidFill>
              </a:rPr>
              <a:t>Test contains variations absent from training (amounts look less even). Next: validation that holds out whole batches, more labels for slow schemes.</a:t>
            </a:r>
            <a:endParaRPr lang="en-US" sz="1600" dirty="0"/>
          </a:p>
        </p:txBody>
      </p:sp>
      <p:sp>
        <p:nvSpPr>
          <p:cNvPr id="5" name="card AI use and reproducibility"/>
          <p:cNvSpPr/>
          <p:nvPr/>
        </p:nvSpPr>
        <p:spPr>
          <a:xfrm>
            <a:off x="4663440" y="1097280"/>
            <a:ext cx="4023360" cy="3474720"/>
          </a:xfrm>
          <a:prstGeom prst="roundRect">
            <a:avLst>
              <a:gd name="adj" fmla="val 2105"/>
            </a:avLst>
          </a:prstGeom>
          <a:solidFill>
            <a:schemeClr val="tx1"/>
          </a:solidFill>
          <a:ln w="12700">
            <a:solidFill>
              <a:schemeClr val="tx1"/>
            </a:solidFill>
            <a:prstDash val="solid"/>
          </a:ln>
        </p:spPr>
      </p:sp>
      <p:sp>
        <p:nvSpPr>
          <p:cNvPr id="6" name="Text 4"/>
          <p:cNvSpPr txBox="1"/>
          <p:nvPr/>
        </p:nvSpPr>
        <p:spPr>
          <a:xfrm>
            <a:off x="4800600" y="1188720"/>
            <a:ext cx="3749040" cy="329184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AI use and reproducibility</a:t>
            </a:r>
            <a:endParaRPr lang="en-US" sz="1600" dirty="0"/>
          </a:p>
          <a:p>
            <a:pPr indent="0" marL="0">
              <a:spcAft>
                <a:spcPts val="400"/>
              </a:spcAft>
              <a:buNone/>
            </a:pPr>
            <a:r>
              <a:rPr lang="en-US" sz="1300" dirty="0">
                <a:solidFill>
                  <a:schemeClr val="bg1"/>
                </a:solidFill>
              </a:rPr>
              <a:t>AI coding assistants (Claude Code and others, listed with models in ATTRIBUTION.md) helped write code and run experiments; every score comes from our own runs.</a:t>
            </a:r>
            <a:endParaRPr lang="en-US" sz="1600" dirty="0"/>
          </a:p>
          <a:p>
            <a:pPr indent="0" marL="0">
              <a:spcAft>
                <a:spcPts val="400"/>
              </a:spcAft>
              <a:buNone/>
            </a:pPr>
            <a:endParaRPr lang="en-US" sz="1600" dirty="0"/>
          </a:p>
          <a:p>
            <a:pPr indent="0" marL="0">
              <a:spcAft>
                <a:spcPts val="400"/>
              </a:spcAft>
              <a:buNone/>
            </a:pPr>
            <a:r>
              <a:rPr lang="en-US" sz="1300" dirty="0">
                <a:solidFill>
                  <a:schemeClr val="bg1"/>
                </a:solidFill>
              </a:rPr>
              <a:t>python run.py rebuilds the upload file from raw data in about 8 minutes on a 4-core machine, fixed seeds, checked twice from an empty cache.</a:t>
            </a:r>
            <a:endParaRPr lang="en-US" sz="1600" dirty="0"/>
          </a:p>
          <a:p>
            <a:pPr indent="0" marL="0">
              <a:spcAft>
                <a:spcPts val="400"/>
              </a:spcAft>
              <a:buNone/>
            </a:pPr>
            <a:endParaRPr lang="en-US" sz="1600" dirty="0"/>
          </a:p>
          <a:p>
            <a:pPr indent="0" marL="0">
              <a:spcAft>
                <a:spcPts val="400"/>
              </a:spcAft>
              <a:buNone/>
            </a:pPr>
            <a:r>
              <a:rPr lang="en-US" sz="1300" dirty="0">
                <a:solidFill>
                  <a:schemeClr val="bg1"/>
                </a:solidFill>
              </a:rPr>
              <a:t>MIT licence. No outside data.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Decode and Detect">
  <a:themeElements>
    <a:clrScheme name="Decode and Detect">
      <a:dk1>
        <a:srgbClr val="1B2433"/>
      </a:dk1>
      <a:lt1>
        <a:srgbClr val="FFFFFF"/>
      </a:lt1>
      <a:dk2>
        <a:srgbClr val="3A4659"/>
      </a:dk2>
      <a:lt2>
        <a:srgbClr val="EEF2F6"/>
      </a:lt2>
      <a:accent1>
        <a:srgbClr val="E8A33D"/>
      </a:accent1>
      <a:accent2>
        <a:srgbClr val="2F7F86"/>
      </a:accent2>
      <a:accent3>
        <a:srgbClr val="C8553D"/>
      </a:accent3>
      <a:accent4>
        <a:srgbClr val="6B7A90"/>
      </a:accent4>
      <a:accent5>
        <a:srgbClr val="A9BCD0"/>
      </a:accent5>
      <a:accent6>
        <a:srgbClr val="3D5A80"/>
      </a:accent6>
      <a:hlink>
        <a:srgbClr val="2F7F86"/>
      </a:hlink>
      <a:folHlink>
        <a:srgbClr val="6B7A90"/>
      </a:folHlink>
    </a:clrScheme>
    <a:fontScheme name="Decode and Det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Decode and Detect: catching laundering by its tempo</dc:title>
  <dc:subject>PptxGenJS Presentation</dc:subject>
  <dc:creator>Team Batman and Robin</dc:creator>
  <cp:lastModifiedBy>Team Batman and Robin</cp:lastModifiedBy>
  <cp:revision>1</cp:revision>
  <dcterms:created xsi:type="dcterms:W3CDTF">2026-10-24T13:47:15Z</dcterms:created>
  <dcterms:modified xsi:type="dcterms:W3CDTF">2026-10-24T13:47:15Z</dcterms:modified>
</cp:coreProperties>
</file>