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d1b077f-c79e-0b7f-bcb3-f8960c26aeb1}">
          <p14:sldIdLst>
            <p14:sldId id="256"/>
          </p14:sldIdLst>
        </p14:section>
        <p14:section name="Problem" id="{37e54a5e-7375-8dec-3bac-3ab80589b9cb}">
          <p14:sldIdLst>
            <p14:sldId id="257"/>
          </p14:sldIdLst>
        </p14:section>
        <p14:section name="Insight" id="{7d28b2a7-0781-c126-38c5-c58e518eb466}">
          <p14:sldIdLst>
            <p14:sldId id="258"/>
          </p14:sldIdLst>
        </p14:section>
        <p14:section name="Method" id="{789bb5ff-a6f4-2f33-0301-288f77e85c43}">
          <p14:sldIdLst>
            <p14:sldId id="259"/>
            <p14:sldId id="260"/>
          </p14:sldIdLst>
        </p14:section>
        <p14:section name="Results" id="{946edeae-971b-b034-43a5-93265885a8fa}">
          <p14:sldIdLst>
            <p14:sldId id="261"/>
            <p14:sldId id="262"/>
            <p14:sldId id="263"/>
          </p14:sldIdLst>
        </p14:section>
        <p14:section name="Close" id="{4b97d7a6-7e10-27fe-515a-f4fce7d85f46}">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4659"/>
                </a:solidFill>
                <a:latin typeface="+mn-lt"/>
              </a:defRPr>
            </a:pPr>
            <a:r>
              <a:rPr sz="1300" b="0" i="0" u="none" strike="noStrike">
                <a:solidFill>
                  <a:srgbClr val="3A4659"/>
                </a:solidFill>
                <a:latin typeface="+mn-lt"/>
              </a:rPr>
              <a:t>Typical minutes between steps (train, median)</a:t>
            </a:r>
          </a:p>
        </c:rich>
      </c:tx>
      <c:layout/>
      <c:overlay val="0"/>
    </c:title>
    <c:autoTitleDeleted val="0"/>
    <c:plotArea>
      <c:layout/>
      <c:barChart>
        <c:barDir val="bar"/>
        <c:grouping val="clustered"/>
        <c:varyColors val="0"/>
        <c:ser>
          <c:idx val="0"/>
          <c:order val="0"/>
          <c:tx>
            <c:strRef>
              <c:f>Sheet1!$B$1</c:f>
              <c:strCache>
                <c:ptCount val="1"/>
                <c:pt idx="0">
                  <c:v>Minutes between steps</c:v>
                </c:pt>
              </c:strCache>
            </c:strRef>
          </c:tx>
          <c:spPr>
            <a:solidFill>
              <a:srgbClr val="E8A33D"/>
            </a:solidFill>
            <a:effectLst/>
          </c:spPr>
          <c:invertIfNegative val="0"/>
          <c:dLbls>
            <c:numFmt formatCode="#,##0" sourceLinked="0"/>
            <c:txPr>
              <a:bodyPr/>
              <a:lstStyle/>
              <a:p>
                <a:pPr>
                  <a:defRPr b="0" i="0" strike="noStrike" sz="13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E8A33D"/>
              </a:solidFill>
              <a:effectLst/>
            </c:spPr>
          </c:dPt>
          <c:dPt>
            <c:idx val="1"/>
            <c:invertIfNegative val="0"/>
            <c:bubble3D val="0"/>
            <c:spPr>
              <a:solidFill>
                <a:srgbClr val="2F7F86"/>
              </a:solidFill>
              <a:effectLst/>
            </c:spPr>
          </c:dPt>
          <c:dPt>
            <c:idx val="2"/>
            <c:invertIfNegative val="0"/>
            <c:bubble3D val="0"/>
            <c:spPr>
              <a:solidFill>
                <a:srgbClr val="E8A33D"/>
              </a:solidFill>
              <a:effectLst/>
            </c:spPr>
          </c:dPt>
          <c:cat>
            <c:multiLvlStrRef>
              <c:f>Sheet1!$A$2:$A$4</c:f>
              <c:multiLvlStrCache>
                <c:ptCount val="3"/>
                <c:lvl>
                  <c:pt idx="0">
                    <c:v>Easy laundering</c:v>
                  </c:pt>
                  <c:pt idx="1">
                    <c:v>Normal look-alike</c:v>
                  </c:pt>
                  <c:pt idx="2">
                    <c:v>Medium laundering</c:v>
                  </c:pt>
                </c:lvl>
              </c:multiLvlStrCache>
            </c:multiLvlStrRef>
          </c:cat>
          <c:val>
            <c:numRef>
              <c:f>Sheet1!$B$2:$B$4</c:f>
              <c:numCache>
                <c:formatCode>General</c:formatCode>
                <c:ptCount val="3"/>
                <c:pt idx="0">
                  <c:v>1</c:v>
                </c:pt>
                <c:pt idx="1">
                  <c:v>10</c:v>
                </c:pt>
                <c:pt idx="2">
                  <c:v>18</c:v>
                </c:pt>
              </c:numCache>
            </c:numRef>
          </c:val>
        </c:ser>
        <c:dLbls>
          <c:numFmt formatCode="#,##0" sourceLinked="0"/>
          <c:txPr>
            <a:bodyPr/>
            <a:lstStyle/>
            <a:p>
              <a:pPr>
                <a:defRPr b="0" i="0" strike="noStrike" sz="1300" u="none">
                  <a:solidFill>
                    <a:srgbClr val="1B24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20"/>
        </c:scaling>
        <c:delete val="0"/>
        <c:axPos val="b"/>
        <c:majorGridlines>
          <c:spPr>
            <a:ln w="6350"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A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Out-of-fold AP</c:v>
                </c:pt>
              </c:strCache>
            </c:strRef>
          </c:tx>
          <c:spPr>
            <a:solidFill>
              <a:srgbClr val="2F7F86"/>
            </a:solidFill>
            <a:effectLst/>
          </c:spPr>
          <c:invertIfNegative val="0"/>
          <c:dLbls>
            <c:numFmt formatCode="0.0;;&quot;&quot;"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Local only</c:v>
                  </c:pt>
                  <c:pt idx="1">
                    <c:v>+ episodes, stage 2</c:v>
                  </c:pt>
                  <c:pt idx="2">
                    <c:v>+ patterns, shape</c:v>
                  </c:pt>
                  <c:pt idx="3">
                    <c:v>+ look-alike model</c:v>
                  </c:pt>
                </c:lvl>
              </c:multiLvlStrCache>
            </c:multiLvlStrRef>
          </c:cat>
          <c:val>
            <c:numRef>
              <c:f>Sheet1!$B$2:$B$5</c:f>
              <c:numCache>
                <c:formatCode>General</c:formatCode>
                <c:ptCount val="4"/>
                <c:pt idx="0">
                  <c:v>58.6</c:v>
                </c:pt>
                <c:pt idx="1">
                  <c:v>61.6</c:v>
                </c:pt>
                <c:pt idx="2">
                  <c:v>63.8</c:v>
                </c:pt>
                <c:pt idx="3">
                  <c:v>67.5</c:v>
                </c:pt>
              </c:numCache>
            </c:numRef>
          </c:val>
        </c:ser>
        <c:ser>
          <c:idx val="1"/>
          <c:order val="1"/>
          <c:tx>
            <c:strRef>
              <c:f>Sheet1!$C$1</c:f>
              <c:strCache>
                <c:ptCount val="1"/>
                <c:pt idx="0">
                  <c:v>Leaderboard</c:v>
                </c:pt>
              </c:strCache>
            </c:strRef>
          </c:tx>
          <c:spPr>
            <a:solidFill>
              <a:srgbClr val="E8A33D"/>
            </a:solidFill>
            <a:effectLst/>
          </c:spPr>
          <c:invertIfNegative val="0"/>
          <c:dLbls>
            <c:numFmt formatCode="0.0;;&quot;&quot;"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Local only</c:v>
                  </c:pt>
                  <c:pt idx="1">
                    <c:v>+ episodes, stage 2</c:v>
                  </c:pt>
                  <c:pt idx="2">
                    <c:v>+ patterns, shape</c:v>
                  </c:pt>
                  <c:pt idx="3">
                    <c:v>+ look-alike model</c:v>
                  </c:pt>
                </c:lvl>
              </c:multiLvlStrCache>
            </c:multiLvlStrRef>
          </c:cat>
          <c:val>
            <c:numRef>
              <c:f>Sheet1!$C$2:$C$5</c:f>
              <c:numCache>
                <c:formatCode>General</c:formatCode>
                <c:ptCount val="4"/>
                <c:pt idx="0">
                  <c:v>0</c:v>
                </c:pt>
                <c:pt idx="1">
                  <c:v>67.3</c:v>
                </c:pt>
                <c:pt idx="2">
                  <c:v>68.5</c:v>
                </c:pt>
                <c:pt idx="3">
                  <c:v>69.2</c:v>
                </c:pt>
              </c:numCache>
            </c:numRef>
          </c:val>
        </c:ser>
        <c:dLbls>
          <c:numFmt formatCode="0.0;;&quot;&quot;"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659"/>
                </a:solidFill>
                <a:latin typeface="+mn-lt"/>
              </a:defRPr>
            </a:pPr>
            <a:endParaRPr lang="en-US"/>
          </a:p>
        </c:txPr>
        <c:crossAx val="2094734552"/>
        <c:crosses val="autoZero"/>
        <c:auto val="1"/>
        <c:lblAlgn val="ctr"/>
        <c:noMultiLvlLbl val="1"/>
      </c:catAx>
      <c:valAx>
        <c:axId val="2094734552"/>
        <c:scaling>
          <c:orientation val="minMax"/>
          <c:max val="75"/>
          <c:min val="5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A465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 every transaction in a synthetic XRP-style ledger for how suspicious it is. Our one-line story: on this data, laundering gives itself away by how fast money moves through brand-new wallet pairs, and the hard part is telling it apart from normal businesses that build the same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rank transactions, not wallets. Average precision rewards putting real cases at the top of an analyst's queue, so only the order matters. The cleaning follows the organiser traps: drops, issuer plus symbol, USD at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finding. Novelty alone is not enough because half of normal payments are first-time pairs too. What separates laundering is unusual tempo for the shape: easy schemes step about every minute, normal look-alikes every ten, and medium schemes are deliberately stretched to about eighteen.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is computed inside a single week and never reads labels. Episodes and patterns describe whole motifs rather than single payments; isolation and shape are what separate real schemes from businesses with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is collective scoring: if most of a scheme scores high, its missing first and last steps get pulled up. The look-alike model learns only from planted scenarios and their normal twins, which is where most of our false positives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Out-of-fold rose from 58.6 to 67.5. The leaderboard runs higher than out-of-fold, but the look-alike model gained 3.7 points offline and only 0.6 on the leaderboard: the test set contains variations that are not in training, which we discuss under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 case is a textbook scatter-gather: one wallet splits about 127 dollars across six brand-new wallets in under two minutes, and all six pay the same collector within the next two. The third example shows the model ignores the collector's ordinary follow-on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Hubs look anomalous by any count. We want the model to score behaviour, not size: steady tempo, no pass-through and open, unrelated counterparties are what normal businesses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the hard relays and random labels cap any honest model at roughly 82 average precision on train. The test week also differs from training, which is why our offline gains did not all transfer. Everything is reproducible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880360"/>
            <a:ext cx="8046720" cy="10972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sp>
        <p:nvSpPr>
          <p:cNvPr id="3" name="Text 0"/>
          <p:cNvSpPr txBox="1"/>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chemeClr val="accent4"/>
                </a:solidFill>
              </a:rPr>
              <a:t>Batman and Robin  |  Decode and Detect  |  flagged for review, synthetic data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nchor="b"/>
          <a:lstStyle/>
          <a:p>
            <a:pPr indent="0" marL="0">
              <a:buNone/>
            </a:pPr>
            <a:r>
              <a:rPr lang="en-US" sz="4000" b="1" dirty="0">
                <a:solidFill>
                  <a:schemeClr val="bg1"/>
                </a:solidFill>
              </a:rPr>
              <a:t>Catching laundering by its tempo</a:t>
            </a:r>
            <a:endParaRPr lang="en-US" sz="4000" dirty="0"/>
          </a:p>
        </p:txBody>
      </p:sp>
      <p:sp>
        <p:nvSpPr>
          <p:cNvPr id="3" name="Text 0"/>
          <p:cNvSpPr/>
          <p:nvPr>
            <p:ph idx="101" type="body" hasCustomPrompt="1"/>
          </p:nvPr>
        </p:nvSpPr>
        <p:spPr>
          <a:xfrm>
            <a:off x="548640" y="2880360"/>
            <a:ext cx="8046720" cy="1097280"/>
          </a:xfrm>
          <a:prstGeom prst="rect">
            <a:avLst/>
          </a:prstGeom>
          <a:noFill/>
          <a:ln/>
        </p:spPr>
        <p:txBody>
          <a:bodyPr wrap="square" rtlCol="0" anchor="t"/>
          <a:lstStyle/>
          <a:p>
            <a:pPr indent="0" marL="0">
              <a:buNone/>
            </a:pPr>
            <a:r>
              <a:rPr lang="en-US" sz="1800" dirty="0">
                <a:solidFill>
                  <a:schemeClr val="accent5"/>
                </a:solidFill>
              </a:rPr>
              <a:t>Decode and Detect, UKCBT x XRPL AI Hack, 24 October 2026</a:t>
            </a:r>
            <a:endParaRPr lang="en-US" sz="1800" dirty="0"/>
          </a:p>
          <a:p>
            <a:pPr indent="0" marL="0">
              <a:buNone/>
            </a:pPr>
            <a:r>
              <a:rPr lang="en-US" sz="1800" dirty="0">
                <a:solidFill>
                  <a:schemeClr val="accent5"/>
                </a:solidFill>
              </a:rPr>
              <a:t>Team Batman and Robin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A week of payments, one suspicion score each</a:t>
            </a:r>
            <a:endParaRPr lang="en-US" sz="2800" dirty="0"/>
          </a:p>
        </p:txBody>
      </p:sp>
      <p:sp>
        <p:nvSpPr>
          <p:cNvPr id="3" name="Text 1"/>
          <p:cNvSpPr txBox="1"/>
          <p:nvPr/>
        </p:nvSpPr>
        <p:spPr>
          <a:xfrm>
            <a:off x="4572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40,101</a:t>
            </a:r>
            <a:endParaRPr lang="en-US" sz="4000" dirty="0"/>
          </a:p>
        </p:txBody>
      </p:sp>
      <p:sp>
        <p:nvSpPr>
          <p:cNvPr id="4" name="Text 2"/>
          <p:cNvSpPr txBox="1"/>
          <p:nvPr/>
        </p:nvSpPr>
        <p:spPr>
          <a:xfrm>
            <a:off x="4572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test transactions to rank, one score each</a:t>
            </a:r>
            <a:endParaRPr lang="en-US" sz="1300" dirty="0"/>
          </a:p>
        </p:txBody>
      </p:sp>
      <p:sp>
        <p:nvSpPr>
          <p:cNvPr id="5" name="Text 3"/>
          <p:cNvSpPr txBox="1"/>
          <p:nvPr/>
        </p:nvSpPr>
        <p:spPr>
          <a:xfrm>
            <a:off x="25146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7 days</a:t>
            </a:r>
            <a:endParaRPr lang="en-US" sz="4000" dirty="0"/>
          </a:p>
        </p:txBody>
      </p:sp>
      <p:sp>
        <p:nvSpPr>
          <p:cNvPr id="6" name="Text 4"/>
          <p:cNvSpPr txBox="1"/>
          <p:nvPr/>
        </p:nvSpPr>
        <p:spPr>
          <a:xfrm>
            <a:off x="25146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of synthetic ledger activity per split</a:t>
            </a:r>
            <a:endParaRPr lang="en-US" sz="1300" dirty="0"/>
          </a:p>
        </p:txBody>
      </p:sp>
      <p:sp>
        <p:nvSpPr>
          <p:cNvPr id="7" name="Text 5"/>
          <p:cNvSpPr txBox="1"/>
          <p:nvPr/>
        </p:nvSpPr>
        <p:spPr>
          <a:xfrm>
            <a:off x="45720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3.1%</a:t>
            </a:r>
            <a:endParaRPr lang="en-US" sz="4000" dirty="0"/>
          </a:p>
        </p:txBody>
      </p:sp>
      <p:sp>
        <p:nvSpPr>
          <p:cNvPr id="8" name="Text 6"/>
          <p:cNvSpPr txBox="1"/>
          <p:nvPr/>
        </p:nvSpPr>
        <p:spPr>
          <a:xfrm>
            <a:off x="45720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of training transactions are suspicious</a:t>
            </a:r>
            <a:endParaRPr lang="en-US" sz="1300" dirty="0"/>
          </a:p>
        </p:txBody>
      </p:sp>
      <p:sp>
        <p:nvSpPr>
          <p:cNvPr id="9" name="Text 7"/>
          <p:cNvSpPr txBox="1"/>
          <p:nvPr/>
        </p:nvSpPr>
        <p:spPr>
          <a:xfrm>
            <a:off x="6629400" y="1188720"/>
            <a:ext cx="205740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AP</a:t>
            </a:r>
            <a:endParaRPr lang="en-US" sz="4000" dirty="0"/>
          </a:p>
        </p:txBody>
      </p:sp>
      <p:sp>
        <p:nvSpPr>
          <p:cNvPr id="10" name="Text 8"/>
          <p:cNvSpPr txBox="1"/>
          <p:nvPr/>
        </p:nvSpPr>
        <p:spPr>
          <a:xfrm>
            <a:off x="6629400" y="1901952"/>
            <a:ext cx="2057400" cy="502920"/>
          </a:xfrm>
          <a:prstGeom prst="rect">
            <a:avLst/>
          </a:prstGeom>
          <a:noFill/>
          <a:ln/>
        </p:spPr>
        <p:txBody>
          <a:bodyPr wrap="square" lIns="0" tIns="0" rIns="0" bIns="0" rtlCol="0" anchor="t"/>
          <a:lstStyle/>
          <a:p>
            <a:pPr indent="0" marL="0">
              <a:buNone/>
            </a:pPr>
            <a:r>
              <a:rPr lang="en-US" sz="1300" dirty="0">
                <a:solidFill>
                  <a:schemeClr val="tx2"/>
                </a:solidFill>
              </a:rPr>
              <a:t>score = average precision: real cases at the top of the review queue</a:t>
            </a:r>
            <a:endParaRPr lang="en-US" sz="1300" dirty="0"/>
          </a:p>
        </p:txBody>
      </p:sp>
      <p:sp>
        <p:nvSpPr>
          <p:cNvPr id="11" name="card What we cleaned"/>
          <p:cNvSpPr/>
          <p:nvPr/>
        </p:nvSpPr>
        <p:spPr>
          <a:xfrm>
            <a:off x="457200" y="2880360"/>
            <a:ext cx="8229600" cy="1051560"/>
          </a:xfrm>
          <a:prstGeom prst="roundRect">
            <a:avLst>
              <a:gd name="adj" fmla="val 6957"/>
            </a:avLst>
          </a:prstGeom>
          <a:solidFill>
            <a:schemeClr val="bg2"/>
          </a:solidFill>
          <a:ln w="12700">
            <a:solidFill>
              <a:schemeClr val="bg2"/>
            </a:solidFill>
            <a:prstDash val="solid"/>
          </a:ln>
        </p:spPr>
      </p:sp>
      <p:sp>
        <p:nvSpPr>
          <p:cNvPr id="12" name="Text 10"/>
          <p:cNvSpPr txBox="1"/>
          <p:nvPr/>
        </p:nvSpPr>
        <p:spPr>
          <a:xfrm>
            <a:off x="594360" y="2971800"/>
            <a:ext cx="7955280" cy="8686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What we cleaned</a:t>
            </a:r>
            <a:endParaRPr lang="en-US" sz="1600" dirty="0"/>
          </a:p>
          <a:p>
            <a:pPr indent="0" marL="0">
              <a:spcAft>
                <a:spcPts val="400"/>
              </a:spcAft>
              <a:buNone/>
            </a:pPr>
            <a:r>
              <a:rPr lang="en-US" sz="1400" dirty="0">
                <a:solidFill>
                  <a:schemeClr val="tx2"/>
                </a:solidFill>
              </a:rPr>
              <a:t>One row per transaction (1 to 3 transfer legs). XRP drops to XRP, assets keyed by issuer and symbol, every payment valued in USD at the hour's reference price. Suspicious cases: 64% easy, 18% medium, 18% hard.</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Laundering gives itself away by its tempo</a:t>
            </a:r>
            <a:endParaRPr lang="en-US" sz="2800" dirty="0"/>
          </a:p>
        </p:txBody>
      </p:sp>
      <p:graphicFrame>
        <p:nvGraphicFramePr>
          <p:cNvPr id="3" name="Chart 0" descr=""/>
          <p:cNvGraphicFramePr/>
          <p:nvPr/>
        </p:nvGraphicFramePr>
        <p:xfrm>
          <a:off x="457200" y="109728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0" y="1188720"/>
            <a:ext cx="320040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tx2"/>
                </a:solidFill>
              </a:rPr>
              <a:t>98% of planted steps are brand-new wallet pairs, but so are 55% of normal payments.</a:t>
            </a:r>
            <a:endParaRPr lang="en-US" sz="1400" dirty="0"/>
          </a:p>
          <a:p>
            <a:pPr marL="342900" indent="-342900">
              <a:spcAft>
                <a:spcPts val="800"/>
              </a:spcAft>
              <a:buSzPct val="100000"/>
              <a:buChar char="•"/>
            </a:pPr>
            <a:r>
              <a:rPr lang="en-US" sz="1400" dirty="0">
                <a:solidFill>
                  <a:schemeClr val="tx2"/>
                </a:solidFill>
              </a:rPr>
              <a:t>Normal businesses build the same shapes at a business pace: about 10 minutes per step.</a:t>
            </a:r>
            <a:endParaRPr lang="en-US" sz="1400" dirty="0"/>
          </a:p>
          <a:p>
            <a:pPr marL="342900" indent="-342900">
              <a:spcAft>
                <a:spcPts val="800"/>
              </a:spcAft>
              <a:buSzPct val="100000"/>
              <a:buChar char="•"/>
            </a:pPr>
            <a:r>
              <a:rPr lang="en-US" sz="1400" dirty="0">
                <a:solidFill>
                  <a:schemeClr val="tx2"/>
                </a:solidFill>
              </a:rPr>
              <a:t>Easy laundering is far faster; medium laundering is deliberately slower.</a:t>
            </a:r>
            <a:endParaRPr lang="en-US" sz="1400" dirty="0"/>
          </a:p>
          <a:p>
            <a:pPr marL="342900" indent="-342900">
              <a:spcAft>
                <a:spcPts val="800"/>
              </a:spcAft>
              <a:buSzPct val="100000"/>
              <a:buChar char="•"/>
            </a:pPr>
            <a:r>
              <a:rPr lang="en-US" sz="1400" dirty="0">
                <a:solidFill>
                  <a:schemeClr val="tx2"/>
                </a:solidFill>
              </a:rPr>
              <a:t>Amounts, fees, assets and hour of day look almost identical.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Five feature families, all inside one week</a:t>
            </a:r>
            <a:endParaRPr lang="en-US" sz="2800" dirty="0"/>
          </a:p>
        </p:txBody>
      </p:sp>
      <p:sp>
        <p:nvSpPr>
          <p:cNvPr id="3" name="card Local"/>
          <p:cNvSpPr/>
          <p:nvPr/>
        </p:nvSpPr>
        <p:spPr>
          <a:xfrm>
            <a:off x="457200" y="1143000"/>
            <a:ext cx="2606040" cy="1600200"/>
          </a:xfrm>
          <a:prstGeom prst="roundRect">
            <a:avLst>
              <a:gd name="adj" fmla="val 4571"/>
            </a:avLst>
          </a:prstGeom>
          <a:solidFill>
            <a:schemeClr val="bg2"/>
          </a:solidFill>
          <a:ln w="12700">
            <a:solidFill>
              <a:schemeClr val="bg2"/>
            </a:solidFill>
            <a:prstDash val="solid"/>
          </a:ln>
        </p:spPr>
      </p:sp>
      <p:sp>
        <p:nvSpPr>
          <p:cNvPr id="4" name="Text 2"/>
          <p:cNvSpPr txBox="1"/>
          <p:nvPr/>
        </p:nvSpPr>
        <p:spPr>
          <a:xfrm>
            <a:off x="594360" y="1234440"/>
            <a:ext cx="233172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Local</a:t>
            </a:r>
            <a:endParaRPr lang="en-US" sz="1600" dirty="0"/>
          </a:p>
          <a:p>
            <a:pPr indent="0" marL="0">
              <a:spcAft>
                <a:spcPts val="400"/>
              </a:spcAft>
              <a:buNone/>
            </a:pPr>
            <a:r>
              <a:rPr lang="en-US" sz="1400" dirty="0">
                <a:solidFill>
                  <a:schemeClr val="tx2"/>
                </a:solidFill>
              </a:rPr>
              <a:t>Amount in USD, conversions, how busy sender and receiver are from 2 minutes to a day, first-time pair or not.</a:t>
            </a:r>
            <a:endParaRPr lang="en-US" sz="1600" dirty="0"/>
          </a:p>
        </p:txBody>
      </p:sp>
      <p:sp>
        <p:nvSpPr>
          <p:cNvPr id="5" name="card Episodes"/>
          <p:cNvSpPr/>
          <p:nvPr/>
        </p:nvSpPr>
        <p:spPr>
          <a:xfrm>
            <a:off x="3246120" y="1143000"/>
            <a:ext cx="2606040" cy="1600200"/>
          </a:xfrm>
          <a:prstGeom prst="roundRect">
            <a:avLst>
              <a:gd name="adj" fmla="val 4571"/>
            </a:avLst>
          </a:prstGeom>
          <a:solidFill>
            <a:schemeClr val="bg2"/>
          </a:solidFill>
          <a:ln w="12700">
            <a:solidFill>
              <a:schemeClr val="bg2"/>
            </a:solidFill>
            <a:prstDash val="solid"/>
          </a:ln>
        </p:spPr>
      </p:sp>
      <p:sp>
        <p:nvSpPr>
          <p:cNvPr id="6" name="Text 4"/>
          <p:cNvSpPr txBox="1"/>
          <p:nvPr/>
        </p:nvSpPr>
        <p:spPr>
          <a:xfrm>
            <a:off x="3383280" y="1234440"/>
            <a:ext cx="233172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Episodes</a:t>
            </a:r>
            <a:endParaRPr lang="en-US" sz="1600" dirty="0"/>
          </a:p>
          <a:p>
            <a:pPr indent="0" marL="0">
              <a:spcAft>
                <a:spcPts val="400"/>
              </a:spcAft>
              <a:buNone/>
            </a:pPr>
            <a:r>
              <a:rPr lang="en-US" sz="1400" dirty="0">
                <a:solidFill>
                  <a:schemeClr val="tx2"/>
                </a:solidFill>
              </a:rPr>
              <a:t>Payments linked through a shared wallet form an episode; its size, span and step gaps describe the motif.</a:t>
            </a:r>
            <a:endParaRPr lang="en-US" sz="1600" dirty="0"/>
          </a:p>
        </p:txBody>
      </p:sp>
      <p:sp>
        <p:nvSpPr>
          <p:cNvPr id="7" name="card Scheme isolation"/>
          <p:cNvSpPr/>
          <p:nvPr/>
        </p:nvSpPr>
        <p:spPr>
          <a:xfrm>
            <a:off x="6035040" y="1143000"/>
            <a:ext cx="2606040" cy="1600200"/>
          </a:xfrm>
          <a:prstGeom prst="roundRect">
            <a:avLst>
              <a:gd name="adj" fmla="val 4571"/>
            </a:avLst>
          </a:prstGeom>
          <a:solidFill>
            <a:schemeClr val="bg2"/>
          </a:solidFill>
          <a:ln w="12700">
            <a:solidFill>
              <a:schemeClr val="bg2"/>
            </a:solidFill>
            <a:prstDash val="solid"/>
          </a:ln>
        </p:spPr>
      </p:sp>
      <p:sp>
        <p:nvSpPr>
          <p:cNvPr id="8" name="Text 6"/>
          <p:cNvSpPr txBox="1"/>
          <p:nvPr/>
        </p:nvSpPr>
        <p:spPr>
          <a:xfrm>
            <a:off x="6172200" y="1234440"/>
            <a:ext cx="233172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Scheme isolation</a:t>
            </a:r>
            <a:endParaRPr lang="en-US" sz="1600" dirty="0"/>
          </a:p>
          <a:p>
            <a:pPr indent="0" marL="0">
              <a:spcAft>
                <a:spcPts val="400"/>
              </a:spcAft>
              <a:buNone/>
            </a:pPr>
            <a:r>
              <a:rPr lang="en-US" sz="1400" dirty="0">
                <a:solidFill>
                  <a:schemeClr val="tx2"/>
                </a:solidFill>
              </a:rPr>
              <a:t>One actor runs a scheme's wallets, so they make no other payments during it. Normal wallets do.</a:t>
            </a:r>
            <a:endParaRPr lang="en-US" sz="1600" dirty="0"/>
          </a:p>
        </p:txBody>
      </p:sp>
      <p:sp>
        <p:nvSpPr>
          <p:cNvPr id="9" name="card Patterns"/>
          <p:cNvSpPr/>
          <p:nvPr/>
        </p:nvSpPr>
        <p:spPr>
          <a:xfrm>
            <a:off x="457200" y="2926080"/>
            <a:ext cx="2606040" cy="1600200"/>
          </a:xfrm>
          <a:prstGeom prst="roundRect">
            <a:avLst>
              <a:gd name="adj" fmla="val 4571"/>
            </a:avLst>
          </a:prstGeom>
          <a:solidFill>
            <a:schemeClr val="bg2"/>
          </a:solidFill>
          <a:ln w="12700">
            <a:solidFill>
              <a:schemeClr val="bg2"/>
            </a:solidFill>
            <a:prstDash val="solid"/>
          </a:ln>
        </p:spPr>
      </p:sp>
      <p:sp>
        <p:nvSpPr>
          <p:cNvPr id="10" name="Text 8"/>
          <p:cNvSpPr txBox="1"/>
          <p:nvPr/>
        </p:nvSpPr>
        <p:spPr>
          <a:xfrm>
            <a:off x="594360" y="3017520"/>
            <a:ext cx="233172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Patterns</a:t>
            </a:r>
            <a:endParaRPr lang="en-US" sz="1600" dirty="0"/>
          </a:p>
          <a:p>
            <a:pPr indent="0" marL="0">
              <a:spcAft>
                <a:spcPts val="400"/>
              </a:spcAft>
              <a:buNone/>
            </a:pPr>
            <a:r>
              <a:rPr lang="en-US" sz="1400" dirty="0">
                <a:solidFill>
                  <a:schemeClr val="tx2"/>
                </a:solidFill>
              </a:rPr>
              <a:t>Cycles, reach, scatter-gather paths and dense blocks among first-time pairs over 2 and 6 hours.</a:t>
            </a:r>
            <a:endParaRPr lang="en-US" sz="1600" dirty="0"/>
          </a:p>
        </p:txBody>
      </p:sp>
      <p:sp>
        <p:nvSpPr>
          <p:cNvPr id="11" name="card Motif shape"/>
          <p:cNvSpPr/>
          <p:nvPr/>
        </p:nvSpPr>
        <p:spPr>
          <a:xfrm>
            <a:off x="3246120" y="2926080"/>
            <a:ext cx="2606040" cy="1600200"/>
          </a:xfrm>
          <a:prstGeom prst="roundRect">
            <a:avLst>
              <a:gd name="adj" fmla="val 4571"/>
            </a:avLst>
          </a:prstGeom>
          <a:solidFill>
            <a:schemeClr val="bg2"/>
          </a:solidFill>
          <a:ln w="12700">
            <a:solidFill>
              <a:schemeClr val="bg2"/>
            </a:solidFill>
            <a:prstDash val="solid"/>
          </a:ln>
        </p:spPr>
      </p:sp>
      <p:sp>
        <p:nvSpPr>
          <p:cNvPr id="12" name="Text 10"/>
          <p:cNvSpPr txBox="1"/>
          <p:nvPr/>
        </p:nvSpPr>
        <p:spPr>
          <a:xfrm>
            <a:off x="3383280" y="3017520"/>
            <a:ext cx="233172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Motif shape</a:t>
            </a:r>
            <a:endParaRPr lang="en-US" sz="1600" dirty="0"/>
          </a:p>
          <a:p>
            <a:pPr indent="0" marL="0">
              <a:spcAft>
                <a:spcPts val="400"/>
              </a:spcAft>
              <a:buNone/>
            </a:pPr>
            <a:r>
              <a:rPr lang="en-US" sz="1400" dirty="0">
                <a:solidFill>
                  <a:schemeClr val="tx2"/>
                </a:solidFill>
              </a:rPr>
              <a:t>How much value pass-through wallets keep (laundering: 98 to 100%) and how regular the hops are.</a:t>
            </a:r>
            <a:endParaRPr lang="en-US" sz="1600" dirty="0"/>
          </a:p>
        </p:txBody>
      </p:sp>
      <p:sp>
        <p:nvSpPr>
          <p:cNvPr id="13" name="card No labels used"/>
          <p:cNvSpPr/>
          <p:nvPr/>
        </p:nvSpPr>
        <p:spPr>
          <a:xfrm>
            <a:off x="6035040" y="2926080"/>
            <a:ext cx="2606040" cy="1600200"/>
          </a:xfrm>
          <a:prstGeom prst="roundRect">
            <a:avLst>
              <a:gd name="adj" fmla="val 4571"/>
            </a:avLst>
          </a:prstGeom>
          <a:solidFill>
            <a:schemeClr val="tx1"/>
          </a:solidFill>
          <a:ln w="12700">
            <a:solidFill>
              <a:schemeClr val="tx1"/>
            </a:solidFill>
            <a:prstDash val="solid"/>
          </a:ln>
        </p:spPr>
      </p:sp>
      <p:sp>
        <p:nvSpPr>
          <p:cNvPr id="14" name="Text 12"/>
          <p:cNvSpPr txBox="1"/>
          <p:nvPr/>
        </p:nvSpPr>
        <p:spPr>
          <a:xfrm>
            <a:off x="6172200" y="3017520"/>
            <a:ext cx="2331720" cy="141732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No labels used</a:t>
            </a:r>
            <a:endParaRPr lang="en-US" sz="1600" dirty="0"/>
          </a:p>
          <a:p>
            <a:pPr indent="0" marL="0">
              <a:spcAft>
                <a:spcPts val="400"/>
              </a:spcAft>
              <a:buNone/>
            </a:pPr>
            <a:r>
              <a:rPr lang="en-US" sz="1400" dirty="0">
                <a:solidFill>
                  <a:schemeClr val="bg1"/>
                </a:solidFill>
              </a:rPr>
              <a:t>Labels, scenario, family and difficulty never enter as inputs. Everything is computed per split.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Two stages and a look-alike specialist</a:t>
            </a:r>
            <a:endParaRPr lang="en-US" sz="2800" dirty="0"/>
          </a:p>
        </p:txBody>
      </p:sp>
      <p:sp>
        <p:nvSpPr>
          <p:cNvPr id="3" name="card Stage 1"/>
          <p:cNvSpPr/>
          <p:nvPr/>
        </p:nvSpPr>
        <p:spPr>
          <a:xfrm>
            <a:off x="457200" y="1188720"/>
            <a:ext cx="1828800"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594360" y="1280160"/>
            <a:ext cx="1554480" cy="12344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Stage 1</a:t>
            </a:r>
            <a:endParaRPr lang="en-US" sz="1600" dirty="0"/>
          </a:p>
          <a:p>
            <a:pPr indent="0" marL="0">
              <a:spcAft>
                <a:spcPts val="400"/>
              </a:spcAft>
              <a:buNone/>
            </a:pPr>
            <a:r>
              <a:rPr lang="en-US" sz="1400" dirty="0">
                <a:solidFill>
                  <a:schemeClr val="tx2"/>
                </a:solidFill>
              </a:rPr>
              <a:t>LightGBM on all features, 2 seeds</a:t>
            </a:r>
            <a:endParaRPr lang="en-US" sz="1600" dirty="0"/>
          </a:p>
        </p:txBody>
      </p:sp>
      <p:sp>
        <p:nvSpPr>
          <p:cNvPr id="5" name="arrow 0"/>
          <p:cNvSpPr/>
          <p:nvPr/>
        </p:nvSpPr>
        <p:spPr>
          <a:xfrm>
            <a:off x="2313432" y="1719072"/>
            <a:ext cx="265176" cy="365760"/>
          </a:xfrm>
          <a:prstGeom prst="rightArrow">
            <a:avLst/>
          </a:prstGeom>
          <a:solidFill>
            <a:schemeClr val="accent4"/>
          </a:solidFill>
          <a:ln w="12700">
            <a:solidFill>
              <a:schemeClr val="accent4"/>
            </a:solidFill>
            <a:prstDash val="solid"/>
          </a:ln>
        </p:spPr>
      </p:sp>
      <p:sp>
        <p:nvSpPr>
          <p:cNvPr id="6" name="card Look-alike model"/>
          <p:cNvSpPr/>
          <p:nvPr/>
        </p:nvSpPr>
        <p:spPr>
          <a:xfrm>
            <a:off x="2606040" y="1188720"/>
            <a:ext cx="1828800" cy="1417320"/>
          </a:xfrm>
          <a:prstGeom prst="roundRect">
            <a:avLst>
              <a:gd name="adj" fmla="val 5161"/>
            </a:avLst>
          </a:prstGeom>
          <a:solidFill>
            <a:schemeClr val="bg2"/>
          </a:solidFill>
          <a:ln w="12700">
            <a:solidFill>
              <a:schemeClr val="bg2"/>
            </a:solidFill>
            <a:prstDash val="solid"/>
          </a:ln>
        </p:spPr>
      </p:sp>
      <p:sp>
        <p:nvSpPr>
          <p:cNvPr id="7" name="Text 5"/>
          <p:cNvSpPr txBox="1"/>
          <p:nvPr/>
        </p:nvSpPr>
        <p:spPr>
          <a:xfrm>
            <a:off x="2743200" y="1280160"/>
            <a:ext cx="1554480" cy="12344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Look-alike model</a:t>
            </a:r>
            <a:endParaRPr lang="en-US" sz="1600" dirty="0"/>
          </a:p>
          <a:p>
            <a:pPr indent="0" marL="0">
              <a:spcAft>
                <a:spcPts val="400"/>
              </a:spcAft>
              <a:buNone/>
            </a:pPr>
            <a:r>
              <a:rPr lang="en-US" sz="1400" dirty="0">
                <a:solidFill>
                  <a:schemeClr val="tx2"/>
                </a:solidFill>
              </a:rPr>
              <a:t>trained only on motif scenarios: real vs normal</a:t>
            </a:r>
            <a:endParaRPr lang="en-US" sz="1600" dirty="0"/>
          </a:p>
        </p:txBody>
      </p:sp>
      <p:sp>
        <p:nvSpPr>
          <p:cNvPr id="8" name="arrow 1"/>
          <p:cNvSpPr/>
          <p:nvPr/>
        </p:nvSpPr>
        <p:spPr>
          <a:xfrm>
            <a:off x="4462272" y="1719072"/>
            <a:ext cx="265176" cy="365760"/>
          </a:xfrm>
          <a:prstGeom prst="rightArrow">
            <a:avLst/>
          </a:prstGeom>
          <a:solidFill>
            <a:schemeClr val="accent4"/>
          </a:solidFill>
          <a:ln w="12700">
            <a:solidFill>
              <a:schemeClr val="accent4"/>
            </a:solidFill>
            <a:prstDash val="solid"/>
          </a:ln>
        </p:spPr>
      </p:sp>
      <p:sp>
        <p:nvSpPr>
          <p:cNvPr id="9" name="card Stage 2"/>
          <p:cNvSpPr/>
          <p:nvPr/>
        </p:nvSpPr>
        <p:spPr>
          <a:xfrm>
            <a:off x="4754880" y="1188720"/>
            <a:ext cx="1828800" cy="1417320"/>
          </a:xfrm>
          <a:prstGeom prst="roundRect">
            <a:avLst>
              <a:gd name="adj" fmla="val 5161"/>
            </a:avLst>
          </a:prstGeom>
          <a:solidFill>
            <a:schemeClr val="bg2"/>
          </a:solidFill>
          <a:ln w="12700">
            <a:solidFill>
              <a:schemeClr val="bg2"/>
            </a:solidFill>
            <a:prstDash val="solid"/>
          </a:ln>
        </p:spPr>
      </p:sp>
      <p:sp>
        <p:nvSpPr>
          <p:cNvPr id="10" name="Text 8"/>
          <p:cNvSpPr txBox="1"/>
          <p:nvPr/>
        </p:nvSpPr>
        <p:spPr>
          <a:xfrm>
            <a:off x="4892040" y="1280160"/>
            <a:ext cx="1554480" cy="12344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Stage 2</a:t>
            </a:r>
            <a:endParaRPr lang="en-US" sz="1600" dirty="0"/>
          </a:p>
          <a:p>
            <a:pPr indent="0" marL="0">
              <a:spcAft>
                <a:spcPts val="400"/>
              </a:spcAft>
              <a:buNone/>
            </a:pPr>
            <a:r>
              <a:rPr lang="en-US" sz="1400" dirty="0">
                <a:solidFill>
                  <a:schemeClr val="tx2"/>
                </a:solidFill>
              </a:rPr>
              <a:t>each payment sees the scores of payments linked to it</a:t>
            </a:r>
            <a:endParaRPr lang="en-US" sz="1600" dirty="0"/>
          </a:p>
        </p:txBody>
      </p:sp>
      <p:sp>
        <p:nvSpPr>
          <p:cNvPr id="11" name="arrow 2"/>
          <p:cNvSpPr/>
          <p:nvPr/>
        </p:nvSpPr>
        <p:spPr>
          <a:xfrm>
            <a:off x="6611112" y="1719072"/>
            <a:ext cx="265176" cy="365760"/>
          </a:xfrm>
          <a:prstGeom prst="rightArrow">
            <a:avLst/>
          </a:prstGeom>
          <a:solidFill>
            <a:schemeClr val="accent4"/>
          </a:solidFill>
          <a:ln w="12700">
            <a:solidFill>
              <a:schemeClr val="accent4"/>
            </a:solidFill>
            <a:prstDash val="solid"/>
          </a:ln>
        </p:spPr>
      </p:sp>
      <p:sp>
        <p:nvSpPr>
          <p:cNvPr id="12" name="card Score"/>
          <p:cNvSpPr/>
          <p:nvPr/>
        </p:nvSpPr>
        <p:spPr>
          <a:xfrm>
            <a:off x="6903720" y="1188720"/>
            <a:ext cx="1828800" cy="1417320"/>
          </a:xfrm>
          <a:prstGeom prst="roundRect">
            <a:avLst>
              <a:gd name="adj" fmla="val 5161"/>
            </a:avLst>
          </a:prstGeom>
          <a:solidFill>
            <a:schemeClr val="accent1"/>
          </a:solidFill>
          <a:ln w="12700">
            <a:solidFill>
              <a:schemeClr val="accent1"/>
            </a:solidFill>
            <a:prstDash val="solid"/>
          </a:ln>
        </p:spPr>
      </p:sp>
      <p:sp>
        <p:nvSpPr>
          <p:cNvPr id="13" name="Text 11"/>
          <p:cNvSpPr txBox="1"/>
          <p:nvPr/>
        </p:nvSpPr>
        <p:spPr>
          <a:xfrm>
            <a:off x="7040880" y="1280160"/>
            <a:ext cx="1554480" cy="12344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Score</a:t>
            </a:r>
            <a:endParaRPr lang="en-US" sz="1600" dirty="0"/>
          </a:p>
          <a:p>
            <a:pPr indent="0" marL="0">
              <a:spcAft>
                <a:spcPts val="400"/>
              </a:spcAft>
              <a:buNone/>
            </a:pPr>
            <a:r>
              <a:rPr lang="en-US" sz="1400" dirty="0">
                <a:solidFill>
                  <a:schemeClr val="tx1"/>
                </a:solidFill>
              </a:rPr>
              <a:t>one rank per transaction</a:t>
            </a:r>
            <a:endParaRPr lang="en-US" sz="1600" dirty="0"/>
          </a:p>
        </p:txBody>
      </p:sp>
      <p:sp>
        <p:nvSpPr>
          <p:cNvPr id="14" name="Text 12"/>
          <p:cNvSpPr txBox="1"/>
          <p:nvPr/>
        </p:nvSpPr>
        <p:spPr>
          <a:xfrm>
            <a:off x="457200" y="2834640"/>
            <a:ext cx="8229600" cy="1783080"/>
          </a:xfrm>
          <a:prstGeom prst="rect">
            <a:avLst/>
          </a:prstGeom>
          <a:noFill/>
          <a:ln/>
        </p:spPr>
        <p:txBody>
          <a:bodyPr wrap="square" rtlCol="0" anchor="t"/>
          <a:lstStyle/>
          <a:p>
            <a:pPr marL="342900" indent="-342900">
              <a:spcAft>
                <a:spcPts val="600"/>
              </a:spcAft>
              <a:buSzPct val="100000"/>
              <a:buChar char="•"/>
            </a:pPr>
            <a:r>
              <a:rPr lang="en-US" sz="1400" dirty="0">
                <a:solidFill>
                  <a:schemeClr val="tx2"/>
                </a:solidFill>
              </a:rPr>
              <a:t>Grouped 5-fold cross-validation: every planted scenario stays inside one fold.</a:t>
            </a:r>
            <a:endParaRPr lang="en-US" sz="1400" dirty="0"/>
          </a:p>
          <a:p>
            <a:pPr marL="342900" indent="-342900">
              <a:spcAft>
                <a:spcPts val="600"/>
              </a:spcAft>
              <a:buSzPct val="100000"/>
              <a:buChar char="•"/>
            </a:pPr>
            <a:r>
              <a:rPr lang="en-US" sz="1400" dirty="0">
                <a:solidFill>
                  <a:schemeClr val="tx2"/>
                </a:solidFill>
              </a:rPr>
              <a:t>Single-seed scores move by about 3 points, so ideas were kept only if they helped on several seeds.</a:t>
            </a:r>
            <a:endParaRPr lang="en-US" sz="1400" dirty="0"/>
          </a:p>
          <a:p>
            <a:pPr marL="342900" indent="-342900">
              <a:spcAft>
                <a:spcPts val="600"/>
              </a:spcAft>
              <a:buSzPct val="100000"/>
              <a:buChar char="•"/>
            </a:pPr>
            <a:r>
              <a:rPr lang="en-US" sz="1400" dirty="0">
                <a:solidFill>
                  <a:schemeClr val="tx2"/>
                </a:solidFill>
              </a:rPr>
              <a:t>The family column only chooses the look-alike model's training rows; it is never an input.</a:t>
            </a:r>
            <a:endParaRPr lang="en-US" sz="1400" dirty="0"/>
          </a:p>
          <a:p>
            <a:pPr marL="342900" indent="-342900">
              <a:spcAft>
                <a:spcPts val="600"/>
              </a:spcAft>
              <a:buSzPct val="100000"/>
              <a:buChar char="•"/>
            </a:pPr>
            <a:r>
              <a:rPr lang="en-US" sz="1400" dirty="0">
                <a:solidFill>
                  <a:schemeClr val="tx2"/>
                </a:solidFill>
              </a:rPr>
              <a:t>No single feature shifts between train and test (largest single-feature AUC 0.55).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Results: each idea had to earn its place</a:t>
            </a:r>
            <a:endParaRPr lang="en-US" sz="2800" dirty="0"/>
          </a:p>
        </p:txBody>
      </p:sp>
      <p:graphicFrame>
        <p:nvGraphicFramePr>
          <p:cNvPr id="3" name="Chart 0" descr=""/>
          <p:cNvGraphicFramePr/>
          <p:nvPr/>
        </p:nvGraphicFramePr>
        <p:xfrm>
          <a:off x="457200" y="105156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309360" y="1143000"/>
            <a:ext cx="23774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69.2</a:t>
            </a:r>
            <a:endParaRPr lang="en-US" sz="4000" dirty="0"/>
          </a:p>
        </p:txBody>
      </p:sp>
      <p:sp>
        <p:nvSpPr>
          <p:cNvPr id="5" name="Text 2"/>
          <p:cNvSpPr txBox="1"/>
          <p:nvPr/>
        </p:nvSpPr>
        <p:spPr>
          <a:xfrm>
            <a:off x="6309360" y="1856232"/>
            <a:ext cx="2377440" cy="502920"/>
          </a:xfrm>
          <a:prstGeom prst="rect">
            <a:avLst/>
          </a:prstGeom>
          <a:noFill/>
          <a:ln/>
        </p:spPr>
        <p:txBody>
          <a:bodyPr wrap="square" lIns="0" tIns="0" rIns="0" bIns="0" rtlCol="0" anchor="t"/>
          <a:lstStyle/>
          <a:p>
            <a:pPr indent="0" marL="0">
              <a:buNone/>
            </a:pPr>
            <a:r>
              <a:rPr lang="en-US" sz="1300" dirty="0">
                <a:solidFill>
                  <a:schemeClr val="tx2"/>
                </a:solidFill>
              </a:rPr>
              <a:t>final leaderboard score (v17, best so far)</a:t>
            </a:r>
            <a:endParaRPr lang="en-US" sz="1300" dirty="0"/>
          </a:p>
        </p:txBody>
      </p:sp>
      <p:sp>
        <p:nvSpPr>
          <p:cNvPr id="6" name="Text 3"/>
          <p:cNvSpPr txBox="1"/>
          <p:nvPr/>
        </p:nvSpPr>
        <p:spPr>
          <a:xfrm>
            <a:off x="6309360" y="2377440"/>
            <a:ext cx="23774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67.5</a:t>
            </a:r>
            <a:endParaRPr lang="en-US" sz="4000" dirty="0"/>
          </a:p>
        </p:txBody>
      </p:sp>
      <p:sp>
        <p:nvSpPr>
          <p:cNvPr id="7" name="Text 4"/>
          <p:cNvSpPr txBox="1"/>
          <p:nvPr/>
        </p:nvSpPr>
        <p:spPr>
          <a:xfrm>
            <a:off x="6309360" y="3090672"/>
            <a:ext cx="2377440" cy="502920"/>
          </a:xfrm>
          <a:prstGeom prst="rect">
            <a:avLst/>
          </a:prstGeom>
          <a:noFill/>
          <a:ln/>
        </p:spPr>
        <p:txBody>
          <a:bodyPr wrap="square" lIns="0" tIns="0" rIns="0" bIns="0" rtlCol="0" anchor="t"/>
          <a:lstStyle/>
          <a:p>
            <a:pPr indent="0" marL="0">
              <a:buNone/>
            </a:pPr>
            <a:r>
              <a:rPr lang="en-US" sz="1300" dirty="0">
                <a:solidFill>
                  <a:schemeClr val="tx2"/>
                </a:solidFill>
              </a:rPr>
              <a:t>out-of-fold AP, grouped 5-fold</a:t>
            </a:r>
            <a:endParaRPr lang="en-US" sz="1300" dirty="0"/>
          </a:p>
        </p:txBody>
      </p:sp>
      <p:sp>
        <p:nvSpPr>
          <p:cNvPr id="8" name="Text 5"/>
          <p:cNvSpPr txBox="1"/>
          <p:nvPr/>
        </p:nvSpPr>
        <p:spPr>
          <a:xfrm>
            <a:off x="6309360" y="3611880"/>
            <a:ext cx="2377440" cy="1005840"/>
          </a:xfrm>
          <a:prstGeom prst="rect">
            <a:avLst/>
          </a:prstGeom>
          <a:noFill/>
          <a:ln/>
        </p:spPr>
        <p:txBody>
          <a:bodyPr wrap="square" lIns="0" tIns="0" rIns="0" bIns="0" rtlCol="0" anchor="t"/>
          <a:lstStyle/>
          <a:p>
            <a:pPr indent="0" marL="0">
              <a:buNone/>
            </a:pPr>
            <a:r>
              <a:rPr lang="en-US" sz="1100" dirty="0">
                <a:solidFill>
                  <a:schemeClr val="accent4"/>
                </a:solidFill>
              </a:rPr>
              <a:t>Dropped after testing: relay features, slow-window counts, closed squares, a medium-only model, pseudo-labelling, value matching.</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Flagged for review: split, hop, merge in minutes</a:t>
            </a:r>
            <a:endParaRPr lang="en-US" sz="2800" dirty="0"/>
          </a:p>
        </p:txBody>
      </p:sp>
      <p:sp>
        <p:nvSpPr>
          <p:cNvPr id="3" name="source"/>
          <p:cNvSpPr/>
          <p:nvPr/>
        </p:nvSpPr>
        <p:spPr>
          <a:xfrm>
            <a:off x="548640" y="2331720"/>
            <a:ext cx="685800" cy="685800"/>
          </a:xfrm>
          <a:prstGeom prst="ellipse">
            <a:avLst/>
          </a:prstGeom>
          <a:solidFill>
            <a:schemeClr val="accent1"/>
          </a:solidFill>
          <a:ln w="12700">
            <a:solidFill>
              <a:schemeClr val="accent1"/>
            </a:solidFill>
            <a:prstDash val="solid"/>
          </a:ln>
        </p:spPr>
      </p:sp>
      <p:sp>
        <p:nvSpPr>
          <p:cNvPr id="4" name="collector"/>
          <p:cNvSpPr/>
          <p:nvPr/>
        </p:nvSpPr>
        <p:spPr>
          <a:xfrm>
            <a:off x="3337560" y="2331720"/>
            <a:ext cx="685800" cy="685800"/>
          </a:xfrm>
          <a:prstGeom prst="ellipse">
            <a:avLst/>
          </a:prstGeom>
          <a:solidFill>
            <a:schemeClr val="accent3"/>
          </a:solidFill>
          <a:ln w="12700">
            <a:solidFill>
              <a:schemeClr val="accent3"/>
            </a:solidFill>
            <a:prstDash val="solid"/>
          </a:ln>
        </p:spPr>
      </p:sp>
      <p:sp>
        <p:nvSpPr>
          <p:cNvPr id="5" name="mid 0"/>
          <p:cNvSpPr/>
          <p:nvPr/>
        </p:nvSpPr>
        <p:spPr>
          <a:xfrm>
            <a:off x="2011680" y="1188720"/>
            <a:ext cx="347472" cy="347472"/>
          </a:xfrm>
          <a:prstGeom prst="ellipse">
            <a:avLst/>
          </a:prstGeom>
          <a:solidFill>
            <a:schemeClr val="accent2"/>
          </a:solidFill>
          <a:ln w="12700">
            <a:solidFill>
              <a:schemeClr val="accent2"/>
            </a:solidFill>
            <a:prstDash val="solid"/>
          </a:ln>
        </p:spPr>
      </p:sp>
      <p:sp>
        <p:nvSpPr>
          <p:cNvPr id="6" name="in 0"/>
          <p:cNvSpPr/>
          <p:nvPr/>
        </p:nvSpPr>
        <p:spPr>
          <a:xfrm>
            <a:off x="1234440" y="2670048"/>
            <a:ext cx="777240" cy="-1307592"/>
          </a:xfrm>
          <a:prstGeom prst="line">
            <a:avLst/>
          </a:prstGeom>
          <a:noFill/>
          <a:ln w="12700">
            <a:solidFill>
              <a:schemeClr val="accent4"/>
            </a:solidFill>
            <a:prstDash val="solid"/>
          </a:ln>
        </p:spPr>
      </p:sp>
      <p:sp>
        <p:nvSpPr>
          <p:cNvPr id="7" name="out 0"/>
          <p:cNvSpPr/>
          <p:nvPr/>
        </p:nvSpPr>
        <p:spPr>
          <a:xfrm>
            <a:off x="2359152" y="1362456"/>
            <a:ext cx="978408" cy="1307592"/>
          </a:xfrm>
          <a:prstGeom prst="line">
            <a:avLst/>
          </a:prstGeom>
          <a:noFill/>
          <a:ln w="12700">
            <a:solidFill>
              <a:schemeClr val="accent4"/>
            </a:solidFill>
            <a:prstDash val="solid"/>
          </a:ln>
        </p:spPr>
      </p:sp>
      <p:sp>
        <p:nvSpPr>
          <p:cNvPr id="8" name="mid 1"/>
          <p:cNvSpPr/>
          <p:nvPr/>
        </p:nvSpPr>
        <p:spPr>
          <a:xfrm>
            <a:off x="2011680" y="1691640"/>
            <a:ext cx="347472" cy="347472"/>
          </a:xfrm>
          <a:prstGeom prst="ellipse">
            <a:avLst/>
          </a:prstGeom>
          <a:solidFill>
            <a:schemeClr val="accent2"/>
          </a:solidFill>
          <a:ln w="12700">
            <a:solidFill>
              <a:schemeClr val="accent2"/>
            </a:solidFill>
            <a:prstDash val="solid"/>
          </a:ln>
        </p:spPr>
      </p:sp>
      <p:sp>
        <p:nvSpPr>
          <p:cNvPr id="9" name="in 1"/>
          <p:cNvSpPr/>
          <p:nvPr/>
        </p:nvSpPr>
        <p:spPr>
          <a:xfrm>
            <a:off x="1234440" y="2670048"/>
            <a:ext cx="777240" cy="-804672"/>
          </a:xfrm>
          <a:prstGeom prst="line">
            <a:avLst/>
          </a:prstGeom>
          <a:noFill/>
          <a:ln w="12700">
            <a:solidFill>
              <a:schemeClr val="accent4"/>
            </a:solidFill>
            <a:prstDash val="solid"/>
          </a:ln>
        </p:spPr>
      </p:sp>
      <p:sp>
        <p:nvSpPr>
          <p:cNvPr id="10" name="out 1"/>
          <p:cNvSpPr/>
          <p:nvPr/>
        </p:nvSpPr>
        <p:spPr>
          <a:xfrm>
            <a:off x="2359152" y="1865376"/>
            <a:ext cx="978408" cy="804672"/>
          </a:xfrm>
          <a:prstGeom prst="line">
            <a:avLst/>
          </a:prstGeom>
          <a:noFill/>
          <a:ln w="12700">
            <a:solidFill>
              <a:schemeClr val="accent4"/>
            </a:solidFill>
            <a:prstDash val="solid"/>
          </a:ln>
        </p:spPr>
      </p:sp>
      <p:sp>
        <p:nvSpPr>
          <p:cNvPr id="11" name="mid 2"/>
          <p:cNvSpPr/>
          <p:nvPr/>
        </p:nvSpPr>
        <p:spPr>
          <a:xfrm>
            <a:off x="2011680" y="2194560"/>
            <a:ext cx="347472" cy="347472"/>
          </a:xfrm>
          <a:prstGeom prst="ellipse">
            <a:avLst/>
          </a:prstGeom>
          <a:solidFill>
            <a:schemeClr val="accent2"/>
          </a:solidFill>
          <a:ln w="12700">
            <a:solidFill>
              <a:schemeClr val="accent2"/>
            </a:solidFill>
            <a:prstDash val="solid"/>
          </a:ln>
        </p:spPr>
      </p:sp>
      <p:sp>
        <p:nvSpPr>
          <p:cNvPr id="12" name="in 2"/>
          <p:cNvSpPr/>
          <p:nvPr/>
        </p:nvSpPr>
        <p:spPr>
          <a:xfrm>
            <a:off x="1234440" y="2670048"/>
            <a:ext cx="777240" cy="-301752"/>
          </a:xfrm>
          <a:prstGeom prst="line">
            <a:avLst/>
          </a:prstGeom>
          <a:noFill/>
          <a:ln w="12700">
            <a:solidFill>
              <a:schemeClr val="accent4"/>
            </a:solidFill>
            <a:prstDash val="solid"/>
          </a:ln>
        </p:spPr>
      </p:sp>
      <p:sp>
        <p:nvSpPr>
          <p:cNvPr id="13" name="out 2"/>
          <p:cNvSpPr/>
          <p:nvPr/>
        </p:nvSpPr>
        <p:spPr>
          <a:xfrm>
            <a:off x="2359152" y="2368296"/>
            <a:ext cx="978408" cy="301752"/>
          </a:xfrm>
          <a:prstGeom prst="line">
            <a:avLst/>
          </a:prstGeom>
          <a:noFill/>
          <a:ln w="12700">
            <a:solidFill>
              <a:schemeClr val="accent4"/>
            </a:solidFill>
            <a:prstDash val="solid"/>
          </a:ln>
        </p:spPr>
      </p:sp>
      <p:sp>
        <p:nvSpPr>
          <p:cNvPr id="14" name="mid 3"/>
          <p:cNvSpPr/>
          <p:nvPr/>
        </p:nvSpPr>
        <p:spPr>
          <a:xfrm>
            <a:off x="2011680" y="2697480"/>
            <a:ext cx="347472" cy="347472"/>
          </a:xfrm>
          <a:prstGeom prst="ellipse">
            <a:avLst/>
          </a:prstGeom>
          <a:solidFill>
            <a:schemeClr val="accent2"/>
          </a:solidFill>
          <a:ln w="12700">
            <a:solidFill>
              <a:schemeClr val="accent2"/>
            </a:solidFill>
            <a:prstDash val="solid"/>
          </a:ln>
        </p:spPr>
      </p:sp>
      <p:sp>
        <p:nvSpPr>
          <p:cNvPr id="15" name="in 3"/>
          <p:cNvSpPr/>
          <p:nvPr/>
        </p:nvSpPr>
        <p:spPr>
          <a:xfrm>
            <a:off x="1234440" y="2670048"/>
            <a:ext cx="777240" cy="201168"/>
          </a:xfrm>
          <a:prstGeom prst="line">
            <a:avLst/>
          </a:prstGeom>
          <a:noFill/>
          <a:ln w="12700">
            <a:solidFill>
              <a:schemeClr val="accent4"/>
            </a:solidFill>
            <a:prstDash val="solid"/>
          </a:ln>
        </p:spPr>
      </p:sp>
      <p:sp>
        <p:nvSpPr>
          <p:cNvPr id="16" name="out 3"/>
          <p:cNvSpPr/>
          <p:nvPr/>
        </p:nvSpPr>
        <p:spPr>
          <a:xfrm>
            <a:off x="2359152" y="2871216"/>
            <a:ext cx="978408" cy="-201168"/>
          </a:xfrm>
          <a:prstGeom prst="line">
            <a:avLst/>
          </a:prstGeom>
          <a:noFill/>
          <a:ln w="12700">
            <a:solidFill>
              <a:schemeClr val="accent4"/>
            </a:solidFill>
            <a:prstDash val="solid"/>
          </a:ln>
        </p:spPr>
      </p:sp>
      <p:sp>
        <p:nvSpPr>
          <p:cNvPr id="17" name="mid 4"/>
          <p:cNvSpPr/>
          <p:nvPr/>
        </p:nvSpPr>
        <p:spPr>
          <a:xfrm>
            <a:off x="2011680" y="3200400"/>
            <a:ext cx="347472" cy="347472"/>
          </a:xfrm>
          <a:prstGeom prst="ellipse">
            <a:avLst/>
          </a:prstGeom>
          <a:solidFill>
            <a:schemeClr val="accent2"/>
          </a:solidFill>
          <a:ln w="12700">
            <a:solidFill>
              <a:schemeClr val="accent2"/>
            </a:solidFill>
            <a:prstDash val="solid"/>
          </a:ln>
        </p:spPr>
      </p:sp>
      <p:sp>
        <p:nvSpPr>
          <p:cNvPr id="18" name="in 4"/>
          <p:cNvSpPr/>
          <p:nvPr/>
        </p:nvSpPr>
        <p:spPr>
          <a:xfrm>
            <a:off x="1234440" y="2670048"/>
            <a:ext cx="777240" cy="704088"/>
          </a:xfrm>
          <a:prstGeom prst="line">
            <a:avLst/>
          </a:prstGeom>
          <a:noFill/>
          <a:ln w="12700">
            <a:solidFill>
              <a:schemeClr val="accent4"/>
            </a:solidFill>
            <a:prstDash val="solid"/>
          </a:ln>
        </p:spPr>
      </p:sp>
      <p:sp>
        <p:nvSpPr>
          <p:cNvPr id="19" name="out 4"/>
          <p:cNvSpPr/>
          <p:nvPr/>
        </p:nvSpPr>
        <p:spPr>
          <a:xfrm>
            <a:off x="2359152" y="3374136"/>
            <a:ext cx="978408" cy="-704088"/>
          </a:xfrm>
          <a:prstGeom prst="line">
            <a:avLst/>
          </a:prstGeom>
          <a:noFill/>
          <a:ln w="12700">
            <a:solidFill>
              <a:schemeClr val="accent4"/>
            </a:solidFill>
            <a:prstDash val="solid"/>
          </a:ln>
        </p:spPr>
      </p:sp>
      <p:sp>
        <p:nvSpPr>
          <p:cNvPr id="20" name="mid 5"/>
          <p:cNvSpPr/>
          <p:nvPr/>
        </p:nvSpPr>
        <p:spPr>
          <a:xfrm>
            <a:off x="2011680" y="3703320"/>
            <a:ext cx="347472" cy="347472"/>
          </a:xfrm>
          <a:prstGeom prst="ellipse">
            <a:avLst/>
          </a:prstGeom>
          <a:solidFill>
            <a:schemeClr val="accent2"/>
          </a:solidFill>
          <a:ln w="12700">
            <a:solidFill>
              <a:schemeClr val="accent2"/>
            </a:solidFill>
            <a:prstDash val="solid"/>
          </a:ln>
        </p:spPr>
      </p:sp>
      <p:sp>
        <p:nvSpPr>
          <p:cNvPr id="21" name="in 5"/>
          <p:cNvSpPr/>
          <p:nvPr/>
        </p:nvSpPr>
        <p:spPr>
          <a:xfrm>
            <a:off x="1234440" y="2670048"/>
            <a:ext cx="777240" cy="1207008"/>
          </a:xfrm>
          <a:prstGeom prst="line">
            <a:avLst/>
          </a:prstGeom>
          <a:noFill/>
          <a:ln w="12700">
            <a:solidFill>
              <a:schemeClr val="accent4"/>
            </a:solidFill>
            <a:prstDash val="solid"/>
          </a:ln>
        </p:spPr>
      </p:sp>
      <p:sp>
        <p:nvSpPr>
          <p:cNvPr id="22" name="out 5"/>
          <p:cNvSpPr/>
          <p:nvPr/>
        </p:nvSpPr>
        <p:spPr>
          <a:xfrm>
            <a:off x="2359152" y="3877056"/>
            <a:ext cx="978408" cy="-1207008"/>
          </a:xfrm>
          <a:prstGeom prst="line">
            <a:avLst/>
          </a:prstGeom>
          <a:noFill/>
          <a:ln w="12700">
            <a:solidFill>
              <a:schemeClr val="accent4"/>
            </a:solidFill>
            <a:prstDash val="solid"/>
          </a:ln>
        </p:spPr>
      </p:sp>
      <p:sp>
        <p:nvSpPr>
          <p:cNvPr id="23" name="Text 21"/>
          <p:cNvSpPr txBox="1"/>
          <p:nvPr/>
        </p:nvSpPr>
        <p:spPr>
          <a:xfrm>
            <a:off x="457200" y="4160520"/>
            <a:ext cx="3840480" cy="548640"/>
          </a:xfrm>
          <a:prstGeom prst="rect">
            <a:avLst/>
          </a:prstGeom>
          <a:noFill/>
          <a:ln/>
        </p:spPr>
        <p:txBody>
          <a:bodyPr wrap="square" lIns="0" tIns="0" rIns="0" bIns="0" rtlCol="0" anchor="t"/>
          <a:lstStyle/>
          <a:p>
            <a:pPr indent="0" marL="0">
              <a:buNone/>
            </a:pPr>
            <a:r>
              <a:rPr lang="en-US" sz="1200" dirty="0">
                <a:solidFill>
                  <a:schemeClr val="tx2"/>
                </a:solidFill>
              </a:rPr>
              <a:t>Rank 1 of 40,101   5736BA1F...</a:t>
            </a:r>
            <a:endParaRPr lang="en-US" sz="1200" dirty="0"/>
          </a:p>
          <a:p>
            <a:pPr indent="0" marL="0">
              <a:buNone/>
            </a:pPr>
            <a:r>
              <a:rPr lang="en-US" sz="1200" dirty="0">
                <a:solidFill>
                  <a:schemeClr val="tx2"/>
                </a:solidFill>
              </a:rPr>
              <a:t>$127 split across 6 new wallets in 1.7 min; all 6 pay one collector within 2 min</a:t>
            </a:r>
            <a:endParaRPr lang="en-US" sz="1200" dirty="0"/>
          </a:p>
        </p:txBody>
      </p:sp>
      <p:sp>
        <p:nvSpPr>
          <p:cNvPr id="24" name="card Rank 4   8AA1DCA1..."/>
          <p:cNvSpPr/>
          <p:nvPr/>
        </p:nvSpPr>
        <p:spPr>
          <a:xfrm>
            <a:off x="4526280" y="1143000"/>
            <a:ext cx="4160520" cy="1371600"/>
          </a:xfrm>
          <a:prstGeom prst="roundRect">
            <a:avLst>
              <a:gd name="adj" fmla="val 5333"/>
            </a:avLst>
          </a:prstGeom>
          <a:solidFill>
            <a:schemeClr val="bg2"/>
          </a:solidFill>
          <a:ln w="12700">
            <a:solidFill>
              <a:schemeClr val="bg2"/>
            </a:solidFill>
            <a:prstDash val="solid"/>
          </a:ln>
        </p:spPr>
      </p:sp>
      <p:sp>
        <p:nvSpPr>
          <p:cNvPr id="25" name="Text 23"/>
          <p:cNvSpPr txBox="1"/>
          <p:nvPr/>
        </p:nvSpPr>
        <p:spPr>
          <a:xfrm>
            <a:off x="4663440" y="1234440"/>
            <a:ext cx="3886200" cy="11887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Rank 4   8AA1DCA1...</a:t>
            </a:r>
            <a:endParaRPr lang="en-US" sz="1600" dirty="0"/>
          </a:p>
          <a:p>
            <a:pPr indent="0" marL="0">
              <a:spcAft>
                <a:spcPts val="400"/>
              </a:spcAft>
              <a:buNone/>
            </a:pPr>
            <a:r>
              <a:rPr lang="en-US" sz="1400" dirty="0">
                <a:solidFill>
                  <a:schemeClr val="tx2"/>
                </a:solidFill>
              </a:rPr>
              <a:t>Same split and merge, but every branch converts USD into EUR or GBP and back. 98 to 100% of the value survives each hop, all within 10 minutes.</a:t>
            </a:r>
            <a:endParaRPr lang="en-US" sz="1600" dirty="0"/>
          </a:p>
        </p:txBody>
      </p:sp>
      <p:sp>
        <p:nvSpPr>
          <p:cNvPr id="26" name="card Rank 5   41EF2ECA..."/>
          <p:cNvSpPr/>
          <p:nvPr/>
        </p:nvSpPr>
        <p:spPr>
          <a:xfrm>
            <a:off x="4526280" y="2697480"/>
            <a:ext cx="4160520" cy="1371600"/>
          </a:xfrm>
          <a:prstGeom prst="roundRect">
            <a:avLst>
              <a:gd name="adj" fmla="val 5333"/>
            </a:avLst>
          </a:prstGeom>
          <a:solidFill>
            <a:schemeClr val="bg2"/>
          </a:solidFill>
          <a:ln w="12700">
            <a:solidFill>
              <a:schemeClr val="bg2"/>
            </a:solidFill>
            <a:prstDash val="solid"/>
          </a:ln>
        </p:spPr>
      </p:sp>
      <p:sp>
        <p:nvSpPr>
          <p:cNvPr id="27" name="Text 25"/>
          <p:cNvSpPr txBox="1"/>
          <p:nvPr/>
        </p:nvSpPr>
        <p:spPr>
          <a:xfrm>
            <a:off x="4663440" y="2788920"/>
            <a:ext cx="3886200" cy="11887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Rank 5   41EF2ECA...</a:t>
            </a:r>
            <a:endParaRPr lang="en-US" sz="1600" dirty="0"/>
          </a:p>
          <a:p>
            <a:pPr indent="0" marL="0">
              <a:spcAft>
                <a:spcPts val="400"/>
              </a:spcAft>
              <a:buNone/>
            </a:pPr>
            <a:r>
              <a:rPr lang="en-US" sz="1400" dirty="0">
                <a:solidFill>
                  <a:schemeClr val="tx2"/>
                </a:solidFill>
              </a:rPr>
              <a:t>Four new wallets, four assets, merged in GBP in 2 minutes. The collector's next payment, to an old contact, ranks 17,189: we score the motif, not the wallet.</a:t>
            </a:r>
            <a:endParaRPr lang="en-US" sz="1600" dirty="0"/>
          </a:p>
        </p:txBody>
      </p:sp>
      <p:sp>
        <p:nvSpPr>
          <p:cNvPr id="28" name="Text 26"/>
          <p:cNvSpPr txBox="1"/>
          <p:nvPr/>
        </p:nvSpPr>
        <p:spPr>
          <a:xfrm>
            <a:off x="4526280" y="4206240"/>
            <a:ext cx="4160520" cy="457200"/>
          </a:xfrm>
          <a:prstGeom prst="rect">
            <a:avLst/>
          </a:prstGeom>
          <a:noFill/>
          <a:ln/>
        </p:spPr>
        <p:txBody>
          <a:bodyPr wrap="square" lIns="0" tIns="0" rIns="0" bIns="0" rtlCol="0" anchor="t"/>
          <a:lstStyle/>
          <a:p>
            <a:pPr indent="0" marL="0">
              <a:buNone/>
            </a:pPr>
            <a:r>
              <a:rPr lang="en-US" sz="1100" dirty="0">
                <a:solidFill>
                  <a:schemeClr val="accent4"/>
                </a:solidFill>
              </a:rPr>
              <a:t>Full hashes in report/EXAMPLES.md. A high score means flagged for review, not proof of wrongdoing.</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The busiest wallet, deliberately not flagged</a:t>
            </a:r>
            <a:endParaRPr lang="en-US" sz="2800" dirty="0"/>
          </a:p>
        </p:txBody>
      </p:sp>
      <p:sp>
        <p:nvSpPr>
          <p:cNvPr id="3" name="Text 1"/>
          <p:cNvSpPr txBox="1"/>
          <p:nvPr/>
        </p:nvSpPr>
        <p:spPr>
          <a:xfrm>
            <a:off x="4572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316</a:t>
            </a:r>
            <a:endParaRPr lang="en-US" sz="4000" dirty="0"/>
          </a:p>
        </p:txBody>
      </p:sp>
      <p:sp>
        <p:nvSpPr>
          <p:cNvPr id="4" name="Text 2"/>
          <p:cNvSpPr txBox="1"/>
          <p:nvPr/>
        </p:nvSpPr>
        <p:spPr>
          <a:xfrm>
            <a:off x="4572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payments in the test week</a:t>
            </a:r>
            <a:endParaRPr lang="en-US" sz="1300" dirty="0"/>
          </a:p>
        </p:txBody>
      </p:sp>
      <p:sp>
        <p:nvSpPr>
          <p:cNvPr id="5" name="Text 3"/>
          <p:cNvSpPr txBox="1"/>
          <p:nvPr/>
        </p:nvSpPr>
        <p:spPr>
          <a:xfrm>
            <a:off x="25146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247</a:t>
            </a:r>
            <a:endParaRPr lang="en-US" sz="4000" dirty="0"/>
          </a:p>
        </p:txBody>
      </p:sp>
      <p:sp>
        <p:nvSpPr>
          <p:cNvPr id="6" name="Text 4"/>
          <p:cNvSpPr txBox="1"/>
          <p:nvPr/>
        </p:nvSpPr>
        <p:spPr>
          <a:xfrm>
            <a:off x="25146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different counterparties, 88% of them new</a:t>
            </a:r>
            <a:endParaRPr lang="en-US" sz="1300" dirty="0"/>
          </a:p>
        </p:txBody>
      </p:sp>
      <p:sp>
        <p:nvSpPr>
          <p:cNvPr id="7" name="Text 5"/>
          <p:cNvSpPr txBox="1"/>
          <p:nvPr/>
        </p:nvSpPr>
        <p:spPr>
          <a:xfrm>
            <a:off x="4572000" y="118872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7 of 7</a:t>
            </a:r>
            <a:endParaRPr lang="en-US" sz="4000" dirty="0"/>
          </a:p>
        </p:txBody>
      </p:sp>
      <p:sp>
        <p:nvSpPr>
          <p:cNvPr id="8" name="Text 6"/>
          <p:cNvSpPr txBox="1"/>
          <p:nvPr/>
        </p:nvSpPr>
        <p:spPr>
          <a:xfrm>
            <a:off x="4572000" y="1901952"/>
            <a:ext cx="1920240" cy="502920"/>
          </a:xfrm>
          <a:prstGeom prst="rect">
            <a:avLst/>
          </a:prstGeom>
          <a:noFill/>
          <a:ln/>
        </p:spPr>
        <p:txBody>
          <a:bodyPr wrap="square" lIns="0" tIns="0" rIns="0" bIns="0" rtlCol="0" anchor="t"/>
          <a:lstStyle/>
          <a:p>
            <a:pPr indent="0" marL="0">
              <a:buNone/>
            </a:pPr>
            <a:r>
              <a:rPr lang="en-US" sz="1300" dirty="0">
                <a:solidFill>
                  <a:schemeClr val="tx2"/>
                </a:solidFill>
              </a:rPr>
              <a:t>days active, a steady 20 minutes apart</a:t>
            </a:r>
            <a:endParaRPr lang="en-US" sz="1300" dirty="0"/>
          </a:p>
        </p:txBody>
      </p:sp>
      <p:sp>
        <p:nvSpPr>
          <p:cNvPr id="9" name="Text 7"/>
          <p:cNvSpPr txBox="1"/>
          <p:nvPr/>
        </p:nvSpPr>
        <p:spPr>
          <a:xfrm>
            <a:off x="6629400" y="1188720"/>
            <a:ext cx="205740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1,975</a:t>
            </a:r>
            <a:endParaRPr lang="en-US" sz="4000" dirty="0"/>
          </a:p>
        </p:txBody>
      </p:sp>
      <p:sp>
        <p:nvSpPr>
          <p:cNvPr id="10" name="Text 8"/>
          <p:cNvSpPr txBox="1"/>
          <p:nvPr/>
        </p:nvSpPr>
        <p:spPr>
          <a:xfrm>
            <a:off x="6629400" y="1901952"/>
            <a:ext cx="2057400" cy="502920"/>
          </a:xfrm>
          <a:prstGeom prst="rect">
            <a:avLst/>
          </a:prstGeom>
          <a:noFill/>
          <a:ln/>
        </p:spPr>
        <p:txBody>
          <a:bodyPr wrap="square" lIns="0" tIns="0" rIns="0" bIns="0" rtlCol="0" anchor="t"/>
          <a:lstStyle/>
          <a:p>
            <a:pPr indent="0" marL="0">
              <a:buNone/>
            </a:pPr>
            <a:r>
              <a:rPr lang="en-US" sz="1300" dirty="0">
                <a:solidFill>
                  <a:schemeClr val="tx2"/>
                </a:solidFill>
              </a:rPr>
              <a:t>its best rank; none of its payments in our top 1%</a:t>
            </a:r>
            <a:endParaRPr lang="en-US" sz="1300" dirty="0"/>
          </a:p>
        </p:txBody>
      </p:sp>
      <p:sp>
        <p:nvSpPr>
          <p:cNvPr id="11" name="card Why we leave it alone   rnpfKt4h..."/>
          <p:cNvSpPr/>
          <p:nvPr/>
        </p:nvSpPr>
        <p:spPr>
          <a:xfrm>
            <a:off x="457200" y="2926080"/>
            <a:ext cx="8229600" cy="1554480"/>
          </a:xfrm>
          <a:prstGeom prst="roundRect">
            <a:avLst>
              <a:gd name="adj" fmla="val 4706"/>
            </a:avLst>
          </a:prstGeom>
          <a:solidFill>
            <a:schemeClr val="bg2"/>
          </a:solidFill>
          <a:ln w="12700">
            <a:solidFill>
              <a:schemeClr val="bg2"/>
            </a:solidFill>
            <a:prstDash val="solid"/>
          </a:ln>
        </p:spPr>
      </p:sp>
      <p:sp>
        <p:nvSpPr>
          <p:cNvPr id="12" name="Text 10"/>
          <p:cNvSpPr txBox="1"/>
          <p:nvPr/>
        </p:nvSpPr>
        <p:spPr>
          <a:xfrm>
            <a:off x="594360" y="3017520"/>
            <a:ext cx="7955280"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Why we leave it alone   rnpfKt4h...</a:t>
            </a:r>
            <a:endParaRPr lang="en-US" sz="1600" dirty="0"/>
          </a:p>
          <a:p>
            <a:pPr indent="0" marL="0">
              <a:spcAft>
                <a:spcPts val="400"/>
              </a:spcAft>
              <a:buNone/>
            </a:pPr>
            <a:r>
              <a:rPr lang="en-US" sz="1400" dirty="0">
                <a:solidFill>
                  <a:schemeClr val="tx2"/>
                </a:solidFill>
              </a:rPr>
              <a:t>By raw fan-in and fan-out it is the most extreme wallet in the data: exactly the exchange or payroll hub the brief warns about. But its new pairs arrive at a steady business pace, money is not passed straight on, and its counterparties do not form closed groups. Volume is not evidence.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1"/>
                </a:solidFill>
              </a:rPr>
              <a:t>Limits, next steps and how we built it</a:t>
            </a:r>
            <a:endParaRPr lang="en-US" sz="2800" dirty="0"/>
          </a:p>
        </p:txBody>
      </p:sp>
      <p:sp>
        <p:nvSpPr>
          <p:cNvPr id="3" name="card Limits and next steps"/>
          <p:cNvSpPr/>
          <p:nvPr/>
        </p:nvSpPr>
        <p:spPr>
          <a:xfrm>
            <a:off x="457200" y="1097280"/>
            <a:ext cx="4023360" cy="3474720"/>
          </a:xfrm>
          <a:prstGeom prst="roundRect">
            <a:avLst>
              <a:gd name="adj" fmla="val 2105"/>
            </a:avLst>
          </a:prstGeom>
          <a:solidFill>
            <a:schemeClr val="bg2"/>
          </a:solidFill>
          <a:ln w="12700">
            <a:solidFill>
              <a:schemeClr val="bg2"/>
            </a:solidFill>
            <a:prstDash val="solid"/>
          </a:ln>
        </p:spPr>
      </p:sp>
      <p:sp>
        <p:nvSpPr>
          <p:cNvPr id="4" name="Text 2"/>
          <p:cNvSpPr txBox="1"/>
          <p:nvPr/>
        </p:nvSpPr>
        <p:spPr>
          <a:xfrm>
            <a:off x="594360" y="1188720"/>
            <a:ext cx="3749040" cy="3291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Limits and next steps</a:t>
            </a:r>
            <a:endParaRPr lang="en-US" sz="1600" dirty="0"/>
          </a:p>
          <a:p>
            <a:pPr indent="0" marL="0">
              <a:spcAft>
                <a:spcPts val="400"/>
              </a:spcAft>
              <a:buNone/>
            </a:pPr>
            <a:r>
              <a:rPr lang="en-US" sz="1300" dirty="0">
                <a:solidFill>
                  <a:schemeClr val="tx2"/>
                </a:solidFill>
              </a:rPr>
              <a:t>Synthetic data: a high score here proves nothing about real crime.</a:t>
            </a:r>
            <a:endParaRPr lang="en-US" sz="1600" dirty="0"/>
          </a:p>
          <a:p>
            <a:pPr indent="0" marL="0">
              <a:spcAft>
                <a:spcPts val="400"/>
              </a:spcAft>
              <a:buNone/>
            </a:pPr>
            <a:endParaRPr lang="en-US" sz="1600" dirty="0"/>
          </a:p>
          <a:p>
            <a:pPr indent="0" marL="0">
              <a:spcAft>
                <a:spcPts val="400"/>
              </a:spcAft>
              <a:buNone/>
            </a:pPr>
            <a:r>
              <a:rPr lang="en-US" sz="1300" dirty="0">
                <a:solidFill>
                  <a:schemeClr val="tx2"/>
                </a:solidFill>
              </a:rPr>
              <a:t>Hard relay cases (16% of suspicious) are built from the same template as 19,800 normal ones; about 20 signals we tried stayed at chance. 25 labels are random by design.</a:t>
            </a:r>
            <a:endParaRPr lang="en-US" sz="1600" dirty="0"/>
          </a:p>
          <a:p>
            <a:pPr indent="0" marL="0">
              <a:spcAft>
                <a:spcPts val="400"/>
              </a:spcAft>
              <a:buNone/>
            </a:pPr>
            <a:endParaRPr lang="en-US" sz="1600" dirty="0"/>
          </a:p>
          <a:p>
            <a:pPr indent="0" marL="0">
              <a:spcAft>
                <a:spcPts val="400"/>
              </a:spcAft>
              <a:buNone/>
            </a:pPr>
            <a:r>
              <a:rPr lang="en-US" sz="1300" dirty="0">
                <a:solidFill>
                  <a:schemeClr val="tx2"/>
                </a:solidFill>
              </a:rPr>
              <a:t>Test contains variations absent from training (amounts look less even). Next: validation that holds out whole batches, more labels for slow schemes.</a:t>
            </a:r>
            <a:endParaRPr lang="en-US" sz="1600" dirty="0"/>
          </a:p>
        </p:txBody>
      </p:sp>
      <p:sp>
        <p:nvSpPr>
          <p:cNvPr id="5" name="card AI use and reproducibility"/>
          <p:cNvSpPr/>
          <p:nvPr/>
        </p:nvSpPr>
        <p:spPr>
          <a:xfrm>
            <a:off x="4663440" y="1097280"/>
            <a:ext cx="4023360" cy="3474720"/>
          </a:xfrm>
          <a:prstGeom prst="roundRect">
            <a:avLst>
              <a:gd name="adj" fmla="val 2105"/>
            </a:avLst>
          </a:prstGeom>
          <a:solidFill>
            <a:schemeClr val="tx1"/>
          </a:solidFill>
          <a:ln w="12700">
            <a:solidFill>
              <a:schemeClr val="tx1"/>
            </a:solidFill>
            <a:prstDash val="solid"/>
          </a:ln>
        </p:spPr>
      </p:sp>
      <p:sp>
        <p:nvSpPr>
          <p:cNvPr id="6" name="Text 4"/>
          <p:cNvSpPr txBox="1"/>
          <p:nvPr/>
        </p:nvSpPr>
        <p:spPr>
          <a:xfrm>
            <a:off x="4800600" y="1188720"/>
            <a:ext cx="3749040" cy="329184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AI use and reproducibility</a:t>
            </a:r>
            <a:endParaRPr lang="en-US" sz="1600" dirty="0"/>
          </a:p>
          <a:p>
            <a:pPr indent="0" marL="0">
              <a:spcAft>
                <a:spcPts val="400"/>
              </a:spcAft>
              <a:buNone/>
            </a:pPr>
            <a:r>
              <a:rPr lang="en-US" sz="1300" dirty="0">
                <a:solidFill>
                  <a:schemeClr val="bg1"/>
                </a:solidFill>
              </a:rPr>
              <a:t>AI coding assistants (Claude Code and others, listed with models in ATTRIBUTION.md) helped write code and run experiments; every score comes from our own runs.</a:t>
            </a:r>
            <a:endParaRPr lang="en-US" sz="1600" dirty="0"/>
          </a:p>
          <a:p>
            <a:pPr indent="0" marL="0">
              <a:spcAft>
                <a:spcPts val="400"/>
              </a:spcAft>
              <a:buNone/>
            </a:pPr>
            <a:endParaRPr lang="en-US" sz="1600" dirty="0"/>
          </a:p>
          <a:p>
            <a:pPr indent="0" marL="0">
              <a:spcAft>
                <a:spcPts val="400"/>
              </a:spcAft>
              <a:buNone/>
            </a:pPr>
            <a:r>
              <a:rPr lang="en-US" sz="1300" dirty="0">
                <a:solidFill>
                  <a:schemeClr val="bg1"/>
                </a:solidFill>
              </a:rPr>
              <a:t>python run.py rebuilds the upload file from raw data in about 8 minutes on a 4-core machine, fixed seeds, checked twice from an empty cache.</a:t>
            </a:r>
            <a:endParaRPr lang="en-US" sz="1600" dirty="0"/>
          </a:p>
          <a:p>
            <a:pPr indent="0" marL="0">
              <a:spcAft>
                <a:spcPts val="400"/>
              </a:spcAft>
              <a:buNone/>
            </a:pPr>
            <a:endParaRPr lang="en-US" sz="1600" dirty="0"/>
          </a:p>
          <a:p>
            <a:pPr indent="0" marL="0">
              <a:spcAft>
                <a:spcPts val="400"/>
              </a:spcAft>
              <a:buNone/>
            </a:pPr>
            <a:r>
              <a:rPr lang="en-US" sz="1300" dirty="0">
                <a:solidFill>
                  <a:schemeClr val="bg1"/>
                </a:solidFill>
              </a:rPr>
              <a:t>MIT licence. No outside data.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Decode and Detect">
  <a:themeElements>
    <a:clrScheme name="Decode and Detect">
      <a:dk1>
        <a:srgbClr val="1B2433"/>
      </a:dk1>
      <a:lt1>
        <a:srgbClr val="FFFFFF"/>
      </a:lt1>
      <a:dk2>
        <a:srgbClr val="3A4659"/>
      </a:dk2>
      <a:lt2>
        <a:srgbClr val="EEF2F6"/>
      </a:lt2>
      <a:accent1>
        <a:srgbClr val="E8A33D"/>
      </a:accent1>
      <a:accent2>
        <a:srgbClr val="2F7F86"/>
      </a:accent2>
      <a:accent3>
        <a:srgbClr val="C8553D"/>
      </a:accent3>
      <a:accent4>
        <a:srgbClr val="6B7A90"/>
      </a:accent4>
      <a:accent5>
        <a:srgbClr val="A9BCD0"/>
      </a:accent5>
      <a:accent6>
        <a:srgbClr val="3D5A80"/>
      </a:accent6>
      <a:hlink>
        <a:srgbClr val="2F7F86"/>
      </a:hlink>
      <a:folHlink>
        <a:srgbClr val="6B7A90"/>
      </a:folHlink>
    </a:clrScheme>
    <a:fontScheme name="Decode and Det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Decode and Detect: catching laundering by its tempo</dc:title>
  <dc:subject>PptxGenJS Presentation</dc:subject>
  <dc:creator>Team Batman and Robin</dc:creator>
  <cp:lastModifiedBy>Team Batman and Robin</cp:lastModifiedBy>
  <cp:revision>1</cp:revision>
  <dcterms:created xsi:type="dcterms:W3CDTF">2026-10-24T12:53:19Z</dcterms:created>
  <dcterms:modified xsi:type="dcterms:W3CDTF">2026-10-24T12:53:19Z</dcterms:modified>
</cp:coreProperties>
</file>